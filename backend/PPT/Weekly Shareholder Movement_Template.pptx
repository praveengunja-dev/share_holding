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25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19.wmf" ContentType="image/x-wmf"/>
  <Override PartName="/ppt/media/image7.wmf" ContentType="image/x-wmf"/>
  <Override PartName="/ppt/media/image22.svg" ContentType="image/svg"/>
  <Override PartName="/ppt/media/image20.wmf" ContentType="image/x-wmf"/>
  <Override PartName="/ppt/media/image24.svg" ContentType="image/svg"/>
  <Override PartName="/ppt/media/image26.svg" ContentType="image/svg"/>
  <Override PartName="/ppt/embeddings/oleObject1.bin" ContentType="application/vnd.openxmlformats-officedocument.oleObject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19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drawings/drawing1.xml" ContentType="application/vnd.openxmlformats-officedocument.drawingml.chartshapes+xml"/>
  <Override PartName="/ppt/charts/style2.xml" ContentType="application/vnd.ms-office.chartstyl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olors2.xml" ContentType="application/vnd.ms-office.chartcolorstyl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68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19.xml"/><Relationship Id="rId5" Type="http://schemas.openxmlformats.org/officeDocument/2006/relationships/slideMaster" Target="slideMasters/slideMaster2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openxmlformats.org/officeDocument/2006/relationships/chartUserShapes" Target="../drawings/drawing1.xml"/><Relationship Id="rId2" Type="http://schemas.microsoft.com/office/2011/relationships/chartStyle" Target="style1.xml"/><Relationship Id="rId3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en-US" sz="1200" b="1" u="none" strike="noStrike">
                <a:solidFill>
                  <a:schemeClr val="tx1"/>
                </a:solidFill>
                <a:uFillTx/>
                <a:latin typeface="Arial"/>
              </a:rPr>
              <a:t>APL v/s Nifty50 - Weekly Share Price Performance </a:t>
            </a:r>
          </a:p>
        </c:rich>
      </c:tx>
      <c:layout>
        <c:manualLayout>
          <c:xMode val="edge"/>
          <c:yMode val="edge"/>
          <c:x val="0.201397268974278"/>
          <c:y val="0.00710122596636967"/>
        </c:manualLayout>
      </c:layout>
      <c:overlay val="0"/>
      <c:spPr>
        <a:solidFill>
          <a:srgbClr val="DAE3F3"/>
        </a:solidFill>
        <a:ln w="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0995871705303271"/>
          <c:y val="0.163060226435319"/>
          <c:w val="0.805271514766593"/>
          <c:h val="0.715549005158438"/>
        </c:manualLayout>
      </c:layout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APL</c:v>
                </c:pt>
              </c:strCache>
            </c:strRef>
          </c:tx>
          <c:spPr>
            <a:solidFill>
              <a:srgbClr val="203864"/>
            </a:solidFill>
            <a:ln cap="rnd" w="12600">
              <a:solidFill>
                <a:srgbClr val="203864"/>
              </a:solidFill>
              <a:round/>
            </a:ln>
          </c:spPr>
          <c:marker>
            <c:symbol val="none"/>
          </c:marker>
          <c:dPt>
            <c:idx val="3"/>
            <c:marker>
              <c:symbol val="none"/>
            </c:marker>
          </c:dPt>
          <c:dLbls>
            <c:dLbl>
              <c:idx val="3"/>
              <c:numFmt formatCode="#,##0_);[RED]\(#,##0\);\-" sourceLinked="0"/>
              <c:spPr>
                <a:solidFill>
                  <a:srgbClr val="D9D9D9"/>
                </a:solidFill>
              </c:spPr>
              <c:txPr>
                <a:bodyPr wrap="square"/>
                <a:lstStyle/>
                <a:p>
                  <a:pPr>
                    <a:defRPr sz="800" b="0" u="none" strike="noStrike">
                      <a:solidFill>
                        <a:schemeClr val="tx1"/>
                      </a:solidFill>
                      <a:uFillTx/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sz="1000" b="0" u="none" strike="noStrike">
                    <a:solidFill>
                      <a:schemeClr val="tx1"/>
                    </a:solidFill>
                    <a:uFillTx/>
                    <a:latin typeface="Arial Nova Light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cap="rnd" w="126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46013</c:v>
                </c:pt>
                <c:pt idx="1">
                  <c:v>46014</c:v>
                </c:pt>
                <c:pt idx="2">
                  <c:v>46015</c:v>
                </c:pt>
                <c:pt idx="3">
                  <c:v>46017</c:v>
                </c:pt>
              </c:strCache>
            </c:strRef>
          </c:cat>
          <c:val>
            <c:numRef>
              <c:f>0</c:f>
              <c:numCache>
                <c:formatCode>#,##0_);[RED]\(#,##0\);\-</c:formatCode>
                <c:ptCount val="4"/>
                <c:pt idx="0">
                  <c:v>143.25</c:v>
                </c:pt>
                <c:pt idx="1">
                  <c:v>144.3</c:v>
                </c:pt>
                <c:pt idx="2">
                  <c:v>143.16</c:v>
                </c:pt>
                <c:pt idx="3">
                  <c:v>142.19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Nifty 50</c:v>
                </c:pt>
              </c:strCache>
            </c:strRef>
          </c:tx>
          <c:spPr>
            <a:solidFill>
              <a:srgbClr val="808080"/>
            </a:solidFill>
            <a:ln cap="rnd" w="12600">
              <a:solidFill>
                <a:srgbClr val="808080"/>
              </a:solidFill>
              <a:prstDash val="sysDash"/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sz="1000" b="0" u="none" strike="noStrike">
                    <a:solidFill>
                      <a:schemeClr val="tx1"/>
                    </a:solidFill>
                    <a:uFillTx/>
                    <a:latin typeface="Arial Nova Light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cap="rnd" w="12600">
                  <a:solidFill>
                    <a:srgbClr val="000000"/>
                  </a:solidFill>
                  <a:prstDash val="sysDash"/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46013</c:v>
                </c:pt>
                <c:pt idx="1">
                  <c:v>46014</c:v>
                </c:pt>
                <c:pt idx="2">
                  <c:v>46015</c:v>
                </c:pt>
                <c:pt idx="3">
                  <c:v>46017</c:v>
                </c:pt>
              </c:strCache>
            </c:strRef>
          </c:cat>
          <c:val>
            <c:numRef>
              <c:f>1</c:f>
              <c:numCache>
                <c:formatCode>#,##0_);[RED]\(#,##0\);\-</c:formatCode>
                <c:ptCount val="4"/>
                <c:pt idx="0">
                  <c:v>143.25</c:v>
                </c:pt>
                <c:pt idx="1">
                  <c:v>143.275998284452</c:v>
                </c:pt>
                <c:pt idx="2">
                  <c:v>143.084158311809</c:v>
                </c:pt>
                <c:pt idx="3">
                  <c:v>142.537920672158</c:v>
                </c:pt>
              </c:numCache>
            </c:numRef>
          </c:val>
          <c:smooth val="1"/>
        </c:ser>
        <c:hiLowLines>
          <c:spPr>
            <a:ln w="0">
              <a:noFill/>
            </a:ln>
          </c:spPr>
        </c:hiLowLines>
        <c:marker val="0"/>
        <c:axId val="63678648"/>
        <c:axId val="69972917"/>
      </c:lineChart>
      <c:catAx>
        <c:axId val="63678648"/>
        <c:scaling>
          <c:orientation val="minMax"/>
        </c:scaling>
        <c:delete val="0"/>
        <c:axPos val="b"/>
        <c:numFmt formatCode="dd\-mmm" sourceLinked="0"/>
        <c:majorTickMark val="out"/>
        <c:minorTickMark val="none"/>
        <c:tickLblPos val="nextTo"/>
        <c:spPr>
          <a:ln w="9360">
            <a:solidFill>
              <a:srgbClr val="000000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chemeClr val="tx1"/>
                </a:solidFill>
                <a:uFillTx/>
                <a:latin typeface="Arial"/>
              </a:defRPr>
            </a:pPr>
          </a:p>
        </c:txPr>
        <c:crossAx val="69972917"/>
        <c:crosses val="autoZero"/>
        <c:auto val="1"/>
        <c:lblAlgn val="ctr"/>
        <c:lblOffset val="100"/>
        <c:noMultiLvlLbl val="0"/>
      </c:catAx>
      <c:valAx>
        <c:axId val="69972917"/>
        <c:scaling>
          <c:orientation val="minMax"/>
          <c:max val="145"/>
        </c:scaling>
        <c:delete val="0"/>
        <c:axPos val="l"/>
        <c:numFmt formatCode="#,##0_);[RED]\(#,##0\)" sourceLinked="0"/>
        <c:majorTickMark val="out"/>
        <c:minorTickMark val="none"/>
        <c:tickLblPos val="nextTo"/>
        <c:spPr>
          <a:ln w="6480">
            <a:solidFill>
              <a:srgbClr val="000000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chemeClr val="tx1"/>
                </a:solidFill>
                <a:uFillTx/>
                <a:latin typeface="Arial"/>
              </a:defRPr>
            </a:pPr>
          </a:p>
        </c:txPr>
        <c:crossAx val="63678648"/>
        <c:crosses val="autoZero"/>
        <c:crossBetween val="midCat"/>
        <c:majorUnit val="5"/>
      </c:valAx>
      <c:spPr>
        <a:noFill/>
        <a:ln w="0">
          <a:noFill/>
        </a:ln>
      </c:spPr>
    </c:plotArea>
    <c:legend>
      <c:legendPos val="b"/>
      <c:layout>
        <c:manualLayout>
          <c:xMode val="edge"/>
          <c:yMode val="edge"/>
          <c:x val="0.330192017328479"/>
          <c:y val="0.948614496912453"/>
          <c:w val="0.346336395450569"/>
          <c:h val="0.0409687182033641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chemeClr val="tx1"/>
              </a:solidFill>
              <a:uFillTx/>
              <a:latin typeface="Arial"/>
            </a:defRPr>
          </a:pPr>
        </a:p>
      </c:txPr>
    </c:legend>
    <c:plotVisOnly val="1"/>
    <c:dispBlanksAs val="gap"/>
  </c:chart>
  <c:spPr>
    <a:solidFill>
      <a:srgbClr val="FFFFFF"/>
    </a:solidFill>
    <a:ln w="0">
      <a:noFill/>
    </a:ln>
  </c:spPr>
  <c:userShapes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en-US" sz="1200" b="1" u="none" strike="noStrike">
                <a:solidFill>
                  <a:schemeClr val="tx1"/>
                </a:solidFill>
                <a:uFillTx/>
                <a:latin typeface="Arial"/>
              </a:rPr>
              <a:t>Daily Delivery and Intra-day Volume (in Lakhs)</a:t>
            </a:r>
          </a:p>
        </c:rich>
      </c:tx>
      <c:overlay val="0"/>
      <c:spPr>
        <a:solidFill>
          <a:srgbClr val="DAE3F3"/>
        </a:solidFill>
        <a:ln w="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0493489996824389"/>
          <c:y val="0.0815697830163407"/>
          <c:w val="0.950460463639251"/>
          <c:h val="0.792727029199036"/>
        </c:manualLayout>
      </c:layout>
      <c:areaChart>
        <c:grouping val="stacked"/>
        <c:ser>
          <c:idx val="0"/>
          <c:order val="0"/>
          <c:tx>
            <c:strRef>
              <c:f>label 0</c:f>
              <c:strCache>
                <c:ptCount val="1"/>
                <c:pt idx="0">
                  <c:v>Delivery Volume</c:v>
                </c:pt>
              </c:strCache>
            </c:strRef>
          </c:tx>
          <c:spPr>
            <a:solidFill>
              <a:srgbClr val="203864"/>
            </a:solidFill>
            <a:ln w="12600">
              <a:noFill/>
            </a:ln>
          </c:spPr>
          <c:dPt>
            <c:idx val="0"/>
            <c:spPr>
              <a:solidFill>
                <a:srgbClr val="203864"/>
              </a:solidFill>
              <a:ln w="12600">
                <a:noFill/>
              </a:ln>
            </c:spPr>
          </c:dPt>
          <c:dPt>
            <c:idx val="3"/>
            <c:spPr>
              <a:solidFill>
                <a:srgbClr val="203864"/>
              </a:solidFill>
              <a:ln w="12600">
                <a:noFill/>
              </a:ln>
            </c:spPr>
          </c:dPt>
          <c:dLbls>
            <c:dLbl>
              <c:idx val="0"/>
              <c:layout>
                <c:manualLayout>
                  <c:x val="0.00896057347670251"/>
                  <c:y val="0"/>
                </c:manualLayout>
              </c:layout>
              <c:numFmt formatCode="#,##0.0_);[RED]\(#,##0.0\);\-" sourceLinked="0"/>
              <c:spPr>
                <a:solidFill>
                  <a:srgbClr val="2A4B7C"/>
                </a:solidFill>
              </c:spPr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chemeClr val="bg1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layout>
                <c:manualLayout>
                  <c:x val="-0.00896057347670251"/>
                  <c:y val="0"/>
                </c:manualLayout>
              </c:layout>
              <c:numFmt formatCode="#,##0.0_);[RED]\(#,##0.0\);\-" sourceLinked="0"/>
              <c:spPr>
                <a:solidFill>
                  <a:srgbClr val="2A4B7C"/>
                </a:solidFill>
              </c:spPr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chemeClr val="bg1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#,##0.0_);[RED]\(#,##0.0\);\-" sourceLinked="0"/>
            <c:spPr>
              <a:solidFill>
                <a:srgbClr val="2A4B7C"/>
              </a:solidFill>
            </c:spPr>
            <c:txPr>
              <a:bodyPr wrap="square"/>
              <a:lstStyle/>
              <a:p>
                <a:pPr>
                  <a:defRPr sz="1000" b="0" u="none" strike="noStrike">
                    <a:solidFill>
                      <a:schemeClr val="bg1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46013</c:v>
                </c:pt>
                <c:pt idx="1">
                  <c:v>46014</c:v>
                </c:pt>
                <c:pt idx="2">
                  <c:v>46015</c:v>
                </c:pt>
                <c:pt idx="3">
                  <c:v>46017</c:v>
                </c:pt>
              </c:strCache>
            </c:strRef>
          </c:cat>
          <c:val>
            <c:numRef>
              <c:f>0</c:f>
              <c:numCache>
                <c:formatCode>#,##0.0_);[RED]\(#,##0.0\);\-</c:formatCode>
                <c:ptCount val="4"/>
                <c:pt idx="0">
                  <c:v>51.17567</c:v>
                </c:pt>
                <c:pt idx="1">
                  <c:v>38.04425</c:v>
                </c:pt>
                <c:pt idx="2">
                  <c:v>43.00299</c:v>
                </c:pt>
                <c:pt idx="3">
                  <c:v>38.47616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Intra-Day Volume</c:v>
                </c:pt>
              </c:strCache>
            </c:strRef>
          </c:tx>
          <c:spPr>
            <a:solidFill>
              <a:srgbClr val="F2F2F2"/>
            </a:solidFill>
            <a:ln w="12600">
              <a:noFill/>
            </a:ln>
          </c:spPr>
          <c:dPt>
            <c:idx val="0"/>
            <c:spPr>
              <a:solidFill>
                <a:srgbClr val="F2F2F2"/>
              </a:solidFill>
              <a:ln w="12600">
                <a:noFill/>
              </a:ln>
            </c:spPr>
          </c:dPt>
          <c:dPt>
            <c:idx val="1"/>
            <c:spPr>
              <a:solidFill>
                <a:srgbClr val="F2F2F2"/>
              </a:solidFill>
              <a:ln w="12600">
                <a:noFill/>
              </a:ln>
            </c:spPr>
          </c:dPt>
          <c:dPt>
            <c:idx val="2"/>
            <c:spPr>
              <a:solidFill>
                <a:srgbClr val="F2F2F2"/>
              </a:solidFill>
              <a:ln w="12600">
                <a:noFill/>
              </a:ln>
            </c:spPr>
          </c:dPt>
          <c:dPt>
            <c:idx val="3"/>
            <c:spPr>
              <a:solidFill>
                <a:srgbClr val="F2F2F2"/>
              </a:solidFill>
              <a:ln w="12600">
                <a:noFill/>
              </a:ln>
            </c:spPr>
          </c:dPt>
          <c:dLbls>
            <c:dLbl>
              <c:idx val="0"/>
              <c:layout>
                <c:manualLayout>
                  <c:x val="0.00224014336917561"/>
                  <c:y val="0.0401549508692365"/>
                </c:manualLayout>
              </c:layout>
              <c:numFmt formatCode="#,##0.0_);[RED]\(#,##0.0\);\-" sourceLinked="0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chemeClr val="tx1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layout>
                <c:manualLayout>
                  <c:x val="0.00224014336917563"/>
                  <c:y val="0.042517006802721"/>
                </c:manualLayout>
              </c:layout>
              <c:numFmt formatCode="#,##0.0_);[RED]\(#,##0.0\);\-" sourceLinked="0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chemeClr val="tx1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layout>
                <c:manualLayout>
                  <c:x val="-0.00224014336917563"/>
                  <c:y val="0.0259826152683296"/>
                </c:manualLayout>
              </c:layout>
              <c:numFmt formatCode="#,##0.0_);[RED]\(#,##0.0\);\-" sourceLinked="0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chemeClr val="tx1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layout>
                <c:manualLayout>
                  <c:x val="-0.00672043010752688"/>
                  <c:y val="0.0401549508692366"/>
                </c:manualLayout>
              </c:layout>
              <c:numFmt formatCode="#,##0.0_);[RED]\(#,##0.0\);\-" sourceLinked="0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chemeClr val="tx1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#,##0.0_);[RED]\(#,##0.0\);\-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chemeClr val="tx1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46013</c:v>
                </c:pt>
                <c:pt idx="1">
                  <c:v>46014</c:v>
                </c:pt>
                <c:pt idx="2">
                  <c:v>46015</c:v>
                </c:pt>
                <c:pt idx="3">
                  <c:v>46017</c:v>
                </c:pt>
              </c:strCache>
            </c:strRef>
          </c:cat>
          <c:val>
            <c:numRef>
              <c:f>1</c:f>
              <c:numCache>
                <c:formatCode>#,##0.0_);[RED]\(#,##0.0\);\-</c:formatCode>
                <c:ptCount val="4"/>
                <c:pt idx="0">
                  <c:v>49.6539871558245</c:v>
                </c:pt>
                <c:pt idx="1">
                  <c:v>45.4762028571429</c:v>
                </c:pt>
                <c:pt idx="2">
                  <c:v>40.4776691042048</c:v>
                </c:pt>
                <c:pt idx="3">
                  <c:v>50.633774401134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Total Volume</c:v>
                </c:pt>
              </c:strCache>
            </c:strRef>
          </c:tx>
          <c:spPr>
            <a:noFill/>
            <a:ln w="25560">
              <a:noFill/>
            </a:ln>
          </c:spPr>
          <c:dPt>
            <c:idx val="0"/>
            <c:spPr>
              <a:noFill/>
              <a:ln w="25560">
                <a:noFill/>
              </a:ln>
            </c:spPr>
          </c:dPt>
          <c:dPt>
            <c:idx val="1"/>
            <c:spPr>
              <a:noFill/>
              <a:ln w="25560">
                <a:noFill/>
              </a:ln>
            </c:spPr>
          </c:dPt>
          <c:dPt>
            <c:idx val="2"/>
            <c:spPr>
              <a:noFill/>
              <a:ln w="25560">
                <a:noFill/>
              </a:ln>
            </c:spPr>
          </c:dPt>
          <c:dPt>
            <c:idx val="3"/>
            <c:spPr>
              <a:noFill/>
              <a:ln w="25560">
                <a:noFill/>
              </a:ln>
            </c:spPr>
          </c:dPt>
          <c:dLbls>
            <c:dLbl>
              <c:idx val="0"/>
              <c:layout>
                <c:manualLayout>
                  <c:x val="-0.00224014336917563"/>
                  <c:y val="0.139361300075586"/>
                </c:manualLayout>
              </c:layout>
              <c:numFmt formatCode="#,##0.0_);[RED]\(#,##0.0\);\-" sourceLinked="0"/>
              <c:txPr>
                <a:bodyPr wrap="square"/>
                <a:lstStyle/>
                <a:p>
                  <a:pPr>
                    <a:defRPr sz="1000" b="1" u="none" strike="noStrike">
                      <a:solidFill>
                        <a:schemeClr val="tx1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layout>
                <c:manualLayout>
                  <c:x val="-0.00896057347670255"/>
                  <c:y val="0.108654572940287"/>
                </c:manualLayout>
              </c:layout>
              <c:numFmt formatCode="#,##0.0_);[RED]\(#,##0.0\);\-" sourceLinked="0"/>
              <c:txPr>
                <a:bodyPr wrap="square"/>
                <a:lstStyle/>
                <a:p>
                  <a:pPr>
                    <a:defRPr sz="1000" b="1" u="none" strike="noStrike">
                      <a:solidFill>
                        <a:schemeClr val="tx1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layout>
                <c:manualLayout>
                  <c:x val="0"/>
                  <c:y val="0.103930461073318"/>
                </c:manualLayout>
              </c:layout>
              <c:numFmt formatCode="#,##0.0_);[RED]\(#,##0.0\);\-" sourceLinked="0"/>
              <c:txPr>
                <a:bodyPr wrap="square"/>
                <a:lstStyle/>
                <a:p>
                  <a:pPr>
                    <a:defRPr sz="1000" b="1" u="none" strike="noStrike">
                      <a:solidFill>
                        <a:schemeClr val="tx1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layout>
                <c:manualLayout>
                  <c:x val="-0.00672043010752688"/>
                  <c:y val="0.115740740740741"/>
                </c:manualLayout>
              </c:layout>
              <c:numFmt formatCode="#,##0.0_);[RED]\(#,##0.0\);\-" sourceLinked="0"/>
              <c:txPr>
                <a:bodyPr wrap="square"/>
                <a:lstStyle/>
                <a:p>
                  <a:pPr>
                    <a:defRPr sz="1000" b="1" u="none" strike="noStrike">
                      <a:solidFill>
                        <a:schemeClr val="tx1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#,##0.0_);[RED]\(#,##0.0\);\-" sourceLinked="0"/>
            <c:txPr>
              <a:bodyPr wrap="square"/>
              <a:lstStyle/>
              <a:p>
                <a:pPr>
                  <a:defRPr sz="1000" b="1" u="none" strike="noStrike">
                    <a:solidFill>
                      <a:schemeClr val="tx1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46013</c:v>
                </c:pt>
                <c:pt idx="1">
                  <c:v>46014</c:v>
                </c:pt>
                <c:pt idx="2">
                  <c:v>46015</c:v>
                </c:pt>
                <c:pt idx="3">
                  <c:v>46017</c:v>
                </c:pt>
              </c:strCache>
            </c:strRef>
          </c:cat>
          <c:val>
            <c:numRef>
              <c:f>2</c:f>
              <c:numCache>
                <c:formatCode>#,##0.0_);[RED]\(#,##0.0\);\-</c:formatCode>
                <c:ptCount val="4"/>
                <c:pt idx="0">
                  <c:v>100.829657155825</c:v>
                </c:pt>
                <c:pt idx="1">
                  <c:v>83.5204528571429</c:v>
                </c:pt>
                <c:pt idx="2">
                  <c:v>83.4806591042048</c:v>
                </c:pt>
                <c:pt idx="3">
                  <c:v>89.109934401134</c:v>
                </c:pt>
              </c:numCache>
            </c:numRef>
          </c:val>
        </c:ser>
        <c:axId val="69471508"/>
        <c:axId val="97614713"/>
      </c:areaChart>
      <c:lineChart>
        <c:grouping val="stacked"/>
        <c:varyColors val="0"/>
        <c:ser>
          <c:idx val="3"/>
          <c:order val="3"/>
          <c:tx>
            <c:strRef>
              <c:f>label 3</c:f>
              <c:strCache>
                <c:ptCount val="1"/>
                <c:pt idx="0">
                  <c:v>% Delivery</c:v>
                </c:pt>
              </c:strCache>
            </c:strRef>
          </c:tx>
          <c:spPr>
            <a:solidFill>
              <a:srgbClr val="FFC000"/>
            </a:solidFill>
            <a:ln cap="rnd" w="28440">
              <a:solidFill>
                <a:srgbClr val="FFC000"/>
              </a:solidFill>
              <a:round/>
            </a:ln>
          </c:spPr>
          <c:marker>
            <c:symbol val="diamond"/>
            <c:size val="8"/>
            <c:spPr>
              <a:solidFill>
                <a:srgbClr val="FFC000"/>
              </a:solidFill>
            </c:spPr>
          </c:marker>
          <c:dLbls>
            <c:numFmt formatCode="0%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chemeClr val="tx1"/>
                    </a:solidFill>
                    <a:uFillTx/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46013</c:v>
                </c:pt>
                <c:pt idx="1">
                  <c:v>46014</c:v>
                </c:pt>
                <c:pt idx="2">
                  <c:v>46015</c:v>
                </c:pt>
                <c:pt idx="3">
                  <c:v>46017</c:v>
                </c:pt>
              </c:strCache>
            </c:strRef>
          </c:cat>
          <c:val>
            <c:numRef>
              <c:f>3</c:f>
              <c:numCache>
                <c:formatCode>0%</c:formatCode>
                <c:ptCount val="4"/>
                <c:pt idx="0">
                  <c:v>0.507545809869332</c:v>
                </c:pt>
                <c:pt idx="1">
                  <c:v>0.455508186301056</c:v>
                </c:pt>
                <c:pt idx="2">
                  <c:v>0.515125185419553</c:v>
                </c:pt>
                <c:pt idx="3">
                  <c:v>0.431783058292885</c:v>
                </c:pt>
              </c:numCache>
            </c:numRef>
          </c:val>
          <c:smooth val="1"/>
        </c:ser>
        <c:hiLowLines>
          <c:spPr>
            <a:ln w="0">
              <a:noFill/>
            </a:ln>
          </c:spPr>
        </c:hiLowLines>
        <c:marker val="1"/>
        <c:axId val="20201611"/>
        <c:axId val="63654306"/>
      </c:lineChart>
      <c:catAx>
        <c:axId val="69471508"/>
        <c:scaling>
          <c:orientation val="minMax"/>
        </c:scaling>
        <c:delete val="0"/>
        <c:axPos val="b"/>
        <c:numFmt formatCode="dd\-mmm" sourceLinked="0"/>
        <c:majorTickMark val="out"/>
        <c:minorTickMark val="none"/>
        <c:tickLblPos val="nextTo"/>
        <c:spPr>
          <a:ln w="9360">
            <a:solidFill>
              <a:srgbClr val="000000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chemeClr val="tx1"/>
                </a:solidFill>
                <a:uFillTx/>
                <a:latin typeface="Arial"/>
              </a:defRPr>
            </a:pPr>
          </a:p>
        </c:txPr>
        <c:crossAx val="97614713"/>
        <c:crosses val="autoZero"/>
        <c:auto val="1"/>
        <c:lblAlgn val="ctr"/>
        <c:lblOffset val="100"/>
        <c:noMultiLvlLbl val="0"/>
      </c:catAx>
      <c:valAx>
        <c:axId val="97614713"/>
        <c:scaling>
          <c:orientation val="minMax"/>
        </c:scaling>
        <c:delete val="0"/>
        <c:axPos val="l"/>
        <c:numFmt formatCode="#,##0.0_);[RED]\(#,##0.0\);\-" sourceLinked="0"/>
        <c:majorTickMark val="out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sz="1000" b="0" u="none" strike="noStrike">
                <a:solidFill>
                  <a:schemeClr val="bg1"/>
                </a:solidFill>
                <a:uFillTx/>
                <a:latin typeface="Arial Nova Light"/>
              </a:defRPr>
            </a:pPr>
          </a:p>
        </c:txPr>
        <c:crossAx val="69471508"/>
        <c:crosses val="autoZero"/>
        <c:crossBetween val="between"/>
      </c:valAx>
      <c:dateAx>
        <c:axId val="20201611"/>
        <c:scaling>
          <c:orientation val="minMax"/>
        </c:scaling>
        <c:delete val="1"/>
        <c:axPos val="t"/>
        <c:numFmt formatCode="[$-409]mm/dd/yyyy" sourceLinked="1"/>
        <c:majorTickMark val="out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63654306"/>
        <c:auto val="1"/>
        <c:lblOffset val="100"/>
        <c:baseTimeUnit val="days"/>
      </c:dateAx>
      <c:valAx>
        <c:axId val="63654306"/>
        <c:scaling>
          <c:orientation val="minMax"/>
          <c:max val="0.55"/>
          <c:min val="0.3"/>
        </c:scaling>
        <c:delete val="0"/>
        <c:axPos val="r"/>
        <c:numFmt formatCode="0%" sourceLinked="0"/>
        <c:majorTickMark val="out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sz="1197" b="0" u="none" strike="noStrike">
                <a:solidFill>
                  <a:schemeClr val="bg1"/>
                </a:solidFill>
                <a:uFillTx/>
                <a:latin typeface="Calibri"/>
              </a:defRPr>
            </a:pPr>
          </a:p>
        </c:txPr>
        <c:crossAx val="20201611"/>
        <c:crosses val="max"/>
        <c:crossBetween val="between"/>
      </c:valAx>
      <c:spPr>
        <a:noFill/>
        <a:ln w="0">
          <a:noFill/>
        </a:ln>
      </c:spPr>
    </c:plotArea>
    <c:legend>
      <c:legendPos val="b"/>
      <c:layout>
        <c:manualLayout>
          <c:xMode val="edge"/>
          <c:yMode val="edge"/>
          <c:x val="0.0539535884627325"/>
          <c:y val="0.949300980234614"/>
          <c:w val="0.9"/>
          <c:h val="0.0424556305461817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chemeClr val="tx1"/>
              </a:solidFill>
              <a:uFillTx/>
              <a:latin typeface="Arial"/>
            </a:defRPr>
          </a:pPr>
        </a:p>
      </c:txPr>
    </c:legend>
    <c:plotVisOnly val="1"/>
    <c:dispBlanksAs val="zero"/>
  </c:chart>
  <c:spPr>
    <a:solidFill>
      <a:srgbClr val="FFFFFF"/>
    </a:solidFill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>
      <a:schemeClr val="dk1">
        <a:lumMod val="65000"/>
        <a:lumOff val="35000"/>
      </a:schemeClr>
    </cs:fontRef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>
      <a:schemeClr val="dk1">
        <a:lumMod val="65000"/>
        <a:lumOff val="35000"/>
      </a:schemeClr>
    </cs:fontRef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drawings/drawing1.xml><?xml version="1.0" encoding="utf-8"?>
<c:userShapes xmlns:cdr="http://schemas.openxmlformats.org/drawingml/2006/chartDrawing" xmlns:a="http://schemas.openxmlformats.org/drawingml/2006/main" xmlns:c="http://schemas.openxmlformats.org/drawingml/2006/chart" xmlns:r="http://schemas.openxmlformats.org/officeDocument/2006/relationships">
  <cdr:relSizeAnchor>
    <cdr:from>
      <cdr:x>0.887646872022864</cdr:x>
      <cdr:y>0.57178267568835</cdr:y>
    </cdr:from>
    <cdr:to>
      <cdr:x>0.97910447761194</cdr:x>
      <cdr:y>0.617337710189589</cdr:y>
    </cdr:to>
    <cdr:sp>
      <cdr:nvSpPr>
        <cdr:cNvPr id="214" name="TextBox 25"/>
        <cdr:cNvSpPr/>
      </cdr:nvSpPr>
      <cdr:spPr>
        <a:xfrm>
          <a:off x="5031360" y="3072600"/>
          <a:ext cx="518400" cy="244800"/>
        </a:xfrm>
        <a:prstGeom prst="rect">
          <a:avLst/>
        </a:prstGeom>
        <a:noFill/>
        <a:ln w="0">
          <a:noFill/>
        </a:ln>
      </cdr:spPr>
      <cdr:style>
        <a:lnRef idx="0"/>
        <a:fillRef idx="0"/>
        <a:effectRef idx="0"/>
        <a:fontRef idx="minor"/>
      </cdr:style>
      <cdr:txBody>
        <a:bodyPr wrap="none" lIns="90000" tIns="45000" rIns="90000" bIns="45000" anchor="t">
          <a:spAutoFit/>
        </a:bodyPr>
        <a:p>
          <a:pPr algn="ctr">
            <a:lnSpc>
              <a:spcPct val="100000"/>
            </a:lnSpc>
            <a:tabLst>
              <a:tab pos="0" algn="l"/>
            </a:tabLst>
          </a:pPr>
          <a:r>
            <a:rPr lang="en-US" sz="1000" b="1" u="none" strike="noStrike">
              <a:solidFill>
                <a:schemeClr val="dk1"/>
              </a:solidFill>
              <a:effectLst/>
              <a:uFillTx/>
              <a:latin typeface="Arial"/>
            </a:rPr>
            <a:t>-0.7%</a:t>
          </a:r>
          <a:endParaRPr sz="1000" b="0" u="none" strike="noStrike">
            <a:solidFill>
              <a:srgbClr val="000000"/>
            </a:solidFill>
            <a:effectLst/>
            <a:uFillTx/>
            <a:latin typeface="Times New Roman"/>
          </a:endParaRPr>
        </a:p>
      </cdr:txBody>
    </cdr:sp>
  </cdr:relSizeAnchor>
  <cdr:relSizeAnchor>
    <cdr:from>
      <cdr:x>0.887646872022864</cdr:x>
      <cdr:y>0.476988008307095</cdr:y>
    </cdr:from>
    <cdr:to>
      <cdr:x>0.97910447761194</cdr:x>
      <cdr:y>0.522543042808334</cdr:y>
    </cdr:to>
    <cdr:sp>
      <cdr:nvSpPr>
        <cdr:cNvPr id="215" name="TextBox 25"/>
        <cdr:cNvSpPr/>
      </cdr:nvSpPr>
      <cdr:spPr>
        <a:xfrm>
          <a:off x="5031360" y="2563200"/>
          <a:ext cx="518400" cy="244800"/>
        </a:xfrm>
        <a:prstGeom prst="rect">
          <a:avLst/>
        </a:prstGeom>
        <a:noFill/>
        <a:ln w="0">
          <a:noFill/>
        </a:ln>
      </cdr:spPr>
      <cdr:style>
        <a:lnRef idx="0"/>
        <a:fillRef idx="0"/>
        <a:effectRef idx="0"/>
        <a:fontRef idx="minor"/>
      </cdr:style>
      <cdr:txBody>
        <a:bodyPr wrap="none" lIns="90000" tIns="45000" rIns="90000" bIns="45000" anchor="t">
          <a:spAutoFit/>
        </a:bodyPr>
        <a:p>
          <a:pPr algn="ctr">
            <a:lnSpc>
              <a:spcPct val="100000"/>
            </a:lnSpc>
            <a:tabLst>
              <a:tab pos="0" algn="l"/>
            </a:tabLst>
          </a:pPr>
          <a:r>
            <a:rPr lang="en-US" sz="1000" b="1" u="none" strike="noStrike">
              <a:solidFill>
                <a:schemeClr val="accent1">
                  <a:lumMod val="50000"/>
                </a:schemeClr>
              </a:solidFill>
              <a:effectLst/>
              <a:uFillTx/>
              <a:latin typeface="Arial"/>
            </a:rPr>
            <a:t>-0.5%</a:t>
          </a:r>
          <a:endParaRPr sz="1000" b="0" u="none" strike="noStrike">
            <a:solidFill>
              <a:srgbClr val="000000"/>
            </a:solidFill>
            <a:effectLst/>
            <a:uFillTx/>
            <a:latin typeface="Times New Roman"/>
          </a:endParaRPr>
        </a:p>
      </cdr:txBody>
    </cdr:sp>
  </cdr:relSizeAnchor>
  <cdr:relSizeAnchor>
    <cdr:from>
      <cdr:x>0</cdr:x>
      <cdr:y>0.0670596904937362</cdr:y>
    </cdr:from>
    <cdr:to>
      <cdr:x>0.323658304223563</cdr:x>
      <cdr:y>0.106853352984525</cdr:y>
    </cdr:to>
    <cdr:sp>
      <cdr:nvSpPr>
        <cdr:cNvPr id="216" name="TextBox 25"/>
        <cdr:cNvSpPr/>
      </cdr:nvSpPr>
      <cdr:spPr>
        <a:xfrm>
          <a:off x="0" y="360360"/>
          <a:ext cx="1834560" cy="213840"/>
        </a:xfrm>
        <a:prstGeom prst="rect">
          <a:avLst/>
        </a:prstGeom>
        <a:noFill/>
        <a:ln w="0">
          <a:noFill/>
        </a:ln>
      </cdr:spPr>
      <cdr:style>
        <a:lnRef idx="0"/>
        <a:fillRef idx="0"/>
        <a:effectRef idx="0"/>
        <a:fontRef idx="minor"/>
      </cdr:style>
      <cdr:txBody>
        <a:bodyPr wrap="none" lIns="90000" tIns="45000" rIns="90000" bIns="45000" anchor="t">
          <a:spAutoFit/>
        </a:bodyPr>
        <a:p>
          <a:pPr>
            <a:lnSpc>
              <a:spcPct val="100000"/>
            </a:lnSpc>
            <a:tabLst>
              <a:tab pos="0" algn="l"/>
            </a:tabLst>
          </a:pPr>
          <a:r>
            <a:rPr lang="en-US" sz="800" b="0" i="1" u="none" strike="noStrike">
              <a:solidFill>
                <a:srgbClr val="000000"/>
              </a:solidFill>
              <a:effectLst/>
              <a:uFillTx/>
              <a:latin typeface="Arial"/>
            </a:rPr>
            <a:t>(Benchmark Index Rebased to APL)</a:t>
          </a:r>
          <a:endParaRPr sz="800" b="0" u="none" strike="noStrike">
            <a:solidFill>
              <a:srgbClr val="000000"/>
            </a:solidFill>
            <a:effectLst/>
            <a:uFillTx/>
            <a:latin typeface="Times New Roman"/>
          </a:endParaRPr>
        </a:p>
      </cdr:txBody>
    </cdr:sp>
  </cdr:relSizeAnchor>
  <cdr:relSizeAnchor>
    <cdr:from>
      <cdr:x>0</cdr:x>
      <cdr:y>0.0984122730622362</cdr:y>
    </cdr:from>
    <cdr:to>
      <cdr:x>0.0753255001587806</cdr:x>
      <cdr:y>0.138205935553025</cdr:y>
    </cdr:to>
    <cdr:sp>
      <cdr:nvSpPr>
        <cdr:cNvPr id="217" name="TextBox 25"/>
        <cdr:cNvSpPr/>
      </cdr:nvSpPr>
      <cdr:spPr>
        <a:xfrm>
          <a:off x="0" y="528840"/>
          <a:ext cx="426960" cy="213840"/>
        </a:xfrm>
        <a:prstGeom prst="rect">
          <a:avLst/>
        </a:prstGeom>
        <a:noFill/>
        <a:ln w="0">
          <a:noFill/>
        </a:ln>
      </cdr:spPr>
      <cdr:style>
        <a:lnRef idx="0"/>
        <a:fillRef idx="0"/>
        <a:effectRef idx="0"/>
        <a:fontRef idx="minor"/>
      </cdr:style>
      <cdr:txBody>
        <a:bodyPr wrap="none" lIns="90000" tIns="45000" rIns="90000" bIns="45000" anchor="t">
          <a:spAutoFit/>
        </a:bodyPr>
        <a:p>
          <a:pPr>
            <a:lnSpc>
              <a:spcPct val="100000"/>
            </a:lnSpc>
            <a:tabLst>
              <a:tab pos="0" algn="l"/>
            </a:tabLst>
          </a:pPr>
          <a:r>
            <a:rPr lang="en-US" sz="800" b="0" i="1" u="none" strike="noStrike">
              <a:solidFill>
                <a:srgbClr val="000000"/>
              </a:solidFill>
              <a:effectLst/>
              <a:uFillTx/>
              <a:latin typeface="Arial"/>
            </a:rPr>
            <a:t>(INR)</a:t>
          </a:r>
          <a:endParaRPr sz="800" b="0" u="none" strike="noStrike">
            <a:solidFill>
              <a:srgbClr val="000000"/>
            </a:solidFill>
            <a:effectLst/>
            <a:uFillTx/>
            <a:latin typeface="Times New Roman"/>
          </a:endParaRPr>
        </a:p>
      </cdr:txBody>
    </cdr:sp>
  </cdr:relSizeAnchor>
</c:userShape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move 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 type="dt" idx="10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PlaceHolder 5"/>
          <p:cNvSpPr>
            <a:spLocks noGrp="1"/>
          </p:cNvSpPr>
          <p:nvPr>
            <p:ph type="ftr" idx="11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PlaceHolder 6"/>
          <p:cNvSpPr>
            <a:spLocks noGrp="1"/>
          </p:cNvSpPr>
          <p:nvPr>
            <p:ph type="sldNum" idx="12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6312C3F-7052-4E11-AAB3-78C85167D31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717480" y="1162080"/>
            <a:ext cx="5573880" cy="313560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7000" cy="365904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14"/>
          </p:nvPr>
        </p:nvSpPr>
        <p:spPr>
          <a:xfrm>
            <a:off x="3970800" y="8830080"/>
            <a:ext cx="303624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906CA1E-46B1-45F3-93B4-5C1D5CB23DE1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 type="ftr" idx="15"/>
          </p:nvPr>
        </p:nvSpPr>
        <p:spPr>
          <a:xfrm>
            <a:off x="0" y="8830080"/>
            <a:ext cx="303624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717480" y="1162080"/>
            <a:ext cx="5573880" cy="313560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7000" cy="365904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16"/>
          </p:nvPr>
        </p:nvSpPr>
        <p:spPr>
          <a:xfrm>
            <a:off x="3970800" y="8830080"/>
            <a:ext cx="303624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66979FD-462E-48BA-8CB1-BABD0151E21C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 type="ftr" idx="17"/>
          </p:nvPr>
        </p:nvSpPr>
        <p:spPr>
          <a:xfrm>
            <a:off x="0" y="8830080"/>
            <a:ext cx="303624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717480" y="1162080"/>
            <a:ext cx="5573880" cy="313560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7000" cy="365904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18"/>
          </p:nvPr>
        </p:nvSpPr>
        <p:spPr>
          <a:xfrm>
            <a:off x="3970800" y="8830080"/>
            <a:ext cx="303624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2C05C80-03E9-478D-8AF5-3461C15AF424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PlaceHolder 4"/>
          <p:cNvSpPr>
            <a:spLocks noGrp="1"/>
          </p:cNvSpPr>
          <p:nvPr>
            <p:ph type="ftr" idx="19"/>
          </p:nvPr>
        </p:nvSpPr>
        <p:spPr>
          <a:xfrm>
            <a:off x="0" y="8830080"/>
            <a:ext cx="303624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717480" y="1162080"/>
            <a:ext cx="5573880" cy="313560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7000" cy="365904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20"/>
          </p:nvPr>
        </p:nvSpPr>
        <p:spPr>
          <a:xfrm>
            <a:off x="3970800" y="8830080"/>
            <a:ext cx="303624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7968A0D-2196-4138-A3F7-414317680960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PlaceHolder 4"/>
          <p:cNvSpPr>
            <a:spLocks noGrp="1"/>
          </p:cNvSpPr>
          <p:nvPr>
            <p:ph type="ftr" idx="21"/>
          </p:nvPr>
        </p:nvSpPr>
        <p:spPr>
          <a:xfrm>
            <a:off x="0" y="8830080"/>
            <a:ext cx="303624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717480" y="1162080"/>
            <a:ext cx="5573880" cy="313560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7000" cy="365904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22"/>
          </p:nvPr>
        </p:nvSpPr>
        <p:spPr>
          <a:xfrm>
            <a:off x="3970800" y="8830080"/>
            <a:ext cx="303624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4387B9F-5625-4692-B60F-9C00805E18FC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PlaceHolder 4"/>
          <p:cNvSpPr>
            <a:spLocks noGrp="1"/>
          </p:cNvSpPr>
          <p:nvPr>
            <p:ph type="ftr" idx="23"/>
          </p:nvPr>
        </p:nvSpPr>
        <p:spPr>
          <a:xfrm>
            <a:off x="0" y="8830080"/>
            <a:ext cx="303624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717480" y="1162080"/>
            <a:ext cx="5573880" cy="313560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7000" cy="365904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4"/>
          </p:nvPr>
        </p:nvSpPr>
        <p:spPr>
          <a:xfrm>
            <a:off x="3970800" y="8830080"/>
            <a:ext cx="303624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20E3269-DDF7-4660-8D12-0D589D5B9EEE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 type="ftr" idx="25"/>
          </p:nvPr>
        </p:nvSpPr>
        <p:spPr>
          <a:xfrm>
            <a:off x="0" y="8830080"/>
            <a:ext cx="303624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717480" y="1162080"/>
            <a:ext cx="5573880" cy="313560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7000" cy="365904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26"/>
          </p:nvPr>
        </p:nvSpPr>
        <p:spPr>
          <a:xfrm>
            <a:off x="3970800" y="8830080"/>
            <a:ext cx="303624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835AAB6-83AF-4209-8FB6-7E375C4A35BF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 type="ftr" idx="27"/>
          </p:nvPr>
        </p:nvSpPr>
        <p:spPr>
          <a:xfrm>
            <a:off x="0" y="8830080"/>
            <a:ext cx="303624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717480" y="1162080"/>
            <a:ext cx="5573880" cy="313560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7000" cy="365904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28"/>
          </p:nvPr>
        </p:nvSpPr>
        <p:spPr>
          <a:xfrm>
            <a:off x="3970800" y="8830080"/>
            <a:ext cx="303624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05097B0-3F78-47A4-8897-1654498968D5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 type="ftr" idx="29"/>
          </p:nvPr>
        </p:nvSpPr>
        <p:spPr>
          <a:xfrm>
            <a:off x="0" y="8830080"/>
            <a:ext cx="303624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717480" y="1162080"/>
            <a:ext cx="5573880" cy="313560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7000" cy="365904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30"/>
          </p:nvPr>
        </p:nvSpPr>
        <p:spPr>
          <a:xfrm>
            <a:off x="3970800" y="8830080"/>
            <a:ext cx="303624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C170250-75EA-4751-84D2-621FD604D891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PlaceHolder 4"/>
          <p:cNvSpPr>
            <a:spLocks noGrp="1"/>
          </p:cNvSpPr>
          <p:nvPr>
            <p:ph type="ftr" idx="31"/>
          </p:nvPr>
        </p:nvSpPr>
        <p:spPr>
          <a:xfrm>
            <a:off x="0" y="8830080"/>
            <a:ext cx="303624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717480" y="1162080"/>
            <a:ext cx="5573880" cy="313560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7000" cy="365904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32"/>
          </p:nvPr>
        </p:nvSpPr>
        <p:spPr>
          <a:xfrm>
            <a:off x="3970800" y="8830080"/>
            <a:ext cx="303624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602A64-1BBB-429C-A471-98560B840F9E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PlaceHolder 4"/>
          <p:cNvSpPr>
            <a:spLocks noGrp="1"/>
          </p:cNvSpPr>
          <p:nvPr>
            <p:ph type="ftr" idx="33"/>
          </p:nvPr>
        </p:nvSpPr>
        <p:spPr>
          <a:xfrm>
            <a:off x="0" y="8830080"/>
            <a:ext cx="303624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717480" y="1162080"/>
            <a:ext cx="5573880" cy="313560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7000" cy="365904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34"/>
          </p:nvPr>
        </p:nvSpPr>
        <p:spPr>
          <a:xfrm>
            <a:off x="3970800" y="8830080"/>
            <a:ext cx="303624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5F68787-C3DA-4B4F-A5B8-74E1952B5D5E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PlaceHolder 4"/>
          <p:cNvSpPr>
            <a:spLocks noGrp="1"/>
          </p:cNvSpPr>
          <p:nvPr>
            <p:ph type="ftr" idx="35"/>
          </p:nvPr>
        </p:nvSpPr>
        <p:spPr>
          <a:xfrm>
            <a:off x="0" y="8830080"/>
            <a:ext cx="303624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717480" y="1162080"/>
            <a:ext cx="5573880" cy="313560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7000" cy="365904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6"/>
          </p:nvPr>
        </p:nvSpPr>
        <p:spPr>
          <a:xfrm>
            <a:off x="3970800" y="8830080"/>
            <a:ext cx="303624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1185800-FE49-40BC-BC7A-BB9D9CB21053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PlaceHolder 4"/>
          <p:cNvSpPr>
            <a:spLocks noGrp="1"/>
          </p:cNvSpPr>
          <p:nvPr>
            <p:ph type="ftr" idx="37"/>
          </p:nvPr>
        </p:nvSpPr>
        <p:spPr>
          <a:xfrm>
            <a:off x="0" y="8830080"/>
            <a:ext cx="303624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717480" y="1162080"/>
            <a:ext cx="5573880" cy="313560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7000" cy="365904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38"/>
          </p:nvPr>
        </p:nvSpPr>
        <p:spPr>
          <a:xfrm>
            <a:off x="3970800" y="8830080"/>
            <a:ext cx="303624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CFEB008-7439-4DF2-8DD2-7766B918D77D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PlaceHolder 4"/>
          <p:cNvSpPr>
            <a:spLocks noGrp="1"/>
          </p:cNvSpPr>
          <p:nvPr>
            <p:ph type="ftr" idx="39"/>
          </p:nvPr>
        </p:nvSpPr>
        <p:spPr>
          <a:xfrm>
            <a:off x="0" y="8830080"/>
            <a:ext cx="303624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image" Target="../media/image2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wmf"/><Relationship Id="rId3" Type="http://schemas.openxmlformats.org/officeDocument/2006/relationships/image" Target="../media/image8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9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9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9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9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9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8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1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1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11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jpeg"/><Relationship Id="rId3" Type="http://schemas.openxmlformats.org/officeDocument/2006/relationships/image" Target="../media/image18.png"/><Relationship Id="rId4" Type="http://schemas.openxmlformats.org/officeDocument/2006/relationships/image" Target="../media/image6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9.wmf"/><Relationship Id="rId4" Type="http://schemas.openxmlformats.org/officeDocument/2006/relationships/image" Target="../media/image5.jpeg"/><Relationship Id="rId5" Type="http://schemas.openxmlformats.org/officeDocument/2006/relationships/image" Target="../media/image6.png"/><Relationship Id="rId6" Type="http://schemas.openxmlformats.org/officeDocument/2006/relationships/image" Target="../media/image2.jpeg"/><Relationship Id="rId7" Type="http://schemas.openxmlformats.org/officeDocument/2006/relationships/image" Target="../media/image20.wmf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9.wmf"/><Relationship Id="rId4" Type="http://schemas.openxmlformats.org/officeDocument/2006/relationships/image" Target="../media/image9.jpeg"/><Relationship Id="rId5" Type="http://schemas.openxmlformats.org/officeDocument/2006/relationships/hyperlink" Target="file:///C:/Users/palla/OneDrive/Desktop/cognitbotz/weekly_shareholding/slides/slide2.xml" TargetMode="External"/><Relationship Id="rId6" Type="http://schemas.openxmlformats.org/officeDocument/2006/relationships/image" Target="../media/image21.png"/><Relationship Id="rId7" Type="http://schemas.openxmlformats.org/officeDocument/2006/relationships/image" Target="../media/image22.sv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9.wmf"/><Relationship Id="rId4" Type="http://schemas.openxmlformats.org/officeDocument/2006/relationships/image" Target="../media/image17.jpeg"/><Relationship Id="rId5" Type="http://schemas.openxmlformats.org/officeDocument/2006/relationships/image" Target="../media/image18.png"/><Relationship Id="rId6" Type="http://schemas.openxmlformats.org/officeDocument/2006/relationships/image" Target="../media/image6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9.wmf"/><Relationship Id="rId4" Type="http://schemas.openxmlformats.org/officeDocument/2006/relationships/image" Target="../media/image5.jpeg"/><Relationship Id="rId5" Type="http://schemas.openxmlformats.org/officeDocument/2006/relationships/image" Target="../media/image6.png"/><Relationship Id="rId6" Type="http://schemas.openxmlformats.org/officeDocument/2006/relationships/image" Target="../media/image2.jpeg"/><Relationship Id="rId7" Type="http://schemas.openxmlformats.org/officeDocument/2006/relationships/image" Target="../media/image20.wmf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9.wmf"/><Relationship Id="rId4" Type="http://schemas.openxmlformats.org/officeDocument/2006/relationships/image" Target="../media/image9.jpeg"/><Relationship Id="rId5" Type="http://schemas.openxmlformats.org/officeDocument/2006/relationships/hyperlink" Target="file:///C:/Users/palla/OneDrive/Desktop/cognitbotz/weekly_shareholding/slides/slide2.xml" TargetMode="External"/><Relationship Id="rId6" Type="http://schemas.openxmlformats.org/officeDocument/2006/relationships/image" Target="../media/image21.png"/><Relationship Id="rId7" Type="http://schemas.openxmlformats.org/officeDocument/2006/relationships/image" Target="../media/image22.sv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9.wmf"/><Relationship Id="rId4" Type="http://schemas.openxmlformats.org/officeDocument/2006/relationships/image" Target="../media/image17.jpeg"/><Relationship Id="rId5" Type="http://schemas.openxmlformats.org/officeDocument/2006/relationships/image" Target="../media/image18.png"/><Relationship Id="rId6" Type="http://schemas.openxmlformats.org/officeDocument/2006/relationships/image" Target="../media/image6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ppendix divi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7"/>
          <p:cNvSpPr/>
          <p:nvPr/>
        </p:nvSpPr>
        <p:spPr>
          <a:xfrm>
            <a:off x="229680" y="6557040"/>
            <a:ext cx="14860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3120" tIns="33120" rIns="33120" bIns="331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AU" sz="650" b="0" u="none" strike="noStrike" cap="all">
                <a:solidFill>
                  <a:schemeClr val="lt1"/>
                </a:solidFill>
                <a:effectLst/>
                <a:uFillTx/>
                <a:latin typeface="Calibri"/>
              </a:rPr>
              <a:t>STRICTLY CONFIDENTIAL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Box 72"/>
          <p:cNvSpPr/>
          <p:nvPr/>
        </p:nvSpPr>
        <p:spPr>
          <a:xfrm>
            <a:off x="229680" y="6557040"/>
            <a:ext cx="14860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3120" tIns="33120" rIns="33120" bIns="331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AU" sz="650" b="0" u="none" strike="noStrike" cap="all">
                <a:solidFill>
                  <a:schemeClr val="lt1"/>
                </a:solidFill>
                <a:effectLst/>
                <a:uFillTx/>
                <a:latin typeface="Calibri"/>
              </a:rPr>
              <a:t>STRICTLY CONFIDENTIAL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Rectangle 3"/>
          <p:cNvSpPr/>
          <p:nvPr/>
        </p:nvSpPr>
        <p:spPr>
          <a:xfrm>
            <a:off x="9906840" y="5056560"/>
            <a:ext cx="2055240" cy="44244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84240" tIns="42120" rIns="33120" bIns="33120" anchor="t">
            <a:noAutofit/>
          </a:bodyPr>
          <a:p>
            <a:pPr algn="r" defTabSz="844200">
              <a:lnSpc>
                <a:spcPct val="100000"/>
              </a:lnSpc>
              <a:spcAft>
                <a:spcPts val="553"/>
              </a:spcAft>
              <a:tabLst>
                <a:tab pos="0" algn="l"/>
              </a:tabLst>
            </a:pPr>
            <a:r>
              <a:rPr lang="en-AU" sz="2210" b="0" u="none" strike="noStrike">
                <a:solidFill>
                  <a:schemeClr val="dk1"/>
                </a:solidFill>
                <a:effectLst/>
                <a:uFillTx/>
                <a:latin typeface="Adani Regular"/>
              </a:rPr>
              <a:t>APPE</a:t>
            </a:r>
            <a:r>
              <a:rPr lang="en-AU" sz="2210" b="0" u="none" strike="noStrike">
                <a:solidFill>
                  <a:schemeClr val="dk1"/>
                </a:solidFill>
                <a:effectLst/>
                <a:uFillTx/>
                <a:latin typeface="Adani Regular"/>
              </a:rPr>
              <a:t>NDIX</a:t>
            </a:r>
            <a:endParaRPr lang="en-US" sz="2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body" hasCustomPrompt="1"/>
          </p:nvPr>
        </p:nvSpPr>
        <p:spPr>
          <a:xfrm>
            <a:off x="4584600" y="5382360"/>
            <a:ext cx="7377480" cy="862560"/>
          </a:xfrm>
          <a:prstGeom prst="rect">
            <a:avLst/>
          </a:prstGeom>
          <a:noFill/>
          <a:ln w="3240">
            <a:noFill/>
          </a:ln>
        </p:spPr>
        <p:txBody>
          <a:bodyPr lIns="91440" tIns="45720" rIns="36000" bIns="36000" anchor="t">
            <a:noAutofit/>
          </a:bodyPr>
          <a:lstStyle>
            <a:lvl1pPr indent="0" algn="r" defTabSz="844200">
              <a:lnSpc>
                <a:spcPct val="90000"/>
              </a:lnSpc>
              <a:spcAft>
                <a:spcPts val="553"/>
              </a:spcAft>
              <a:buNone/>
              <a:tabLst>
                <a:tab pos="0" algn="l"/>
              </a:tabLst>
              <a:defRPr lang="en-AU" sz="221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r" defTabSz="844200">
              <a:lnSpc>
                <a:spcPct val="90000"/>
              </a:lnSpc>
              <a:spcAft>
                <a:spcPts val="553"/>
              </a:spcAft>
              <a:buNone/>
              <a:tabLst>
                <a:tab pos="0" algn="l"/>
              </a:tabLst>
            </a:pPr>
            <a:r>
              <a:rPr lang="en-AU" sz="221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Divider title goes here</a:t>
            </a:r>
            <a:endParaRPr lang="en-AU" sz="221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 hasCustomPrompt="1"/>
          </p:nvPr>
        </p:nvSpPr>
        <p:spPr>
          <a:xfrm>
            <a:off x="8958960" y="3518640"/>
            <a:ext cx="3091320" cy="1582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marL="1266120" indent="-1266120" algn="r" defTabSz="844200">
              <a:lnSpc>
                <a:spcPct val="100000"/>
              </a:lnSpc>
              <a:buNone/>
              <a:tabLst>
                <a:tab pos="0" algn="l"/>
              </a:tabLst>
              <a:defRPr lang="en-AU" sz="14770" b="1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marL="1266120" indent="-1266120" algn="r" defTabSz="844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AU" sz="1477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#</a:t>
            </a:r>
            <a:endParaRPr lang="en-AU" sz="14770" b="1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4" name="Rectangle 41"/>
          <p:cNvSpPr/>
          <p:nvPr/>
        </p:nvSpPr>
        <p:spPr>
          <a:xfrm>
            <a:off x="0" y="0"/>
            <a:ext cx="12183120" cy="6856560"/>
          </a:xfrm>
          <a:prstGeom prst="rect">
            <a:avLst/>
          </a:prstGeom>
          <a:noFill/>
          <a:ln w="6350"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AU" sz="92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le of conten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1"/>
          <p:cNvSpPr/>
          <p:nvPr/>
        </p:nvSpPr>
        <p:spPr>
          <a:xfrm>
            <a:off x="5919480" y="1158480"/>
            <a:ext cx="4695840" cy="7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AU" sz="3200" b="0" u="none" strike="noStrike">
                <a:solidFill>
                  <a:srgbClr val="00A1E0"/>
                </a:solidFill>
                <a:effectLst/>
                <a:uFillTx/>
                <a:latin typeface="Adani Light"/>
              </a:rPr>
              <a:t>Cont</a:t>
            </a:r>
            <a:r>
              <a:rPr lang="en-AU" sz="3200" b="0" u="none" strike="noStrike">
                <a:solidFill>
                  <a:srgbClr val="00A1E0"/>
                </a:solidFill>
                <a:effectLst/>
                <a:uFillTx/>
                <a:latin typeface="Adani Light"/>
              </a:rPr>
              <a:t>ents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" name="Straight Connector 49"/>
          <p:cNvCxnSpPr/>
          <p:nvPr/>
        </p:nvCxnSpPr>
        <p:spPr>
          <a:xfrm>
            <a:off x="0" y="6555600"/>
            <a:ext cx="12193200" cy="144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17" name="TextBox 63"/>
          <p:cNvSpPr/>
          <p:nvPr/>
        </p:nvSpPr>
        <p:spPr>
          <a:xfrm>
            <a:off x="229680" y="6557040"/>
            <a:ext cx="14860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AU" sz="700" b="0" u="none" strike="noStrike" cap="all">
                <a:solidFill>
                  <a:srgbClr val="FFFFFF"/>
                </a:solidFill>
                <a:effectLst/>
                <a:uFillTx/>
                <a:latin typeface="Adani Regular"/>
              </a:rPr>
              <a:t>STRICTLY </a:t>
            </a:r>
            <a:r>
              <a:rPr lang="en-AU" sz="700" b="0" u="none" strike="noStrike" cap="all">
                <a:solidFill>
                  <a:srgbClr val="FFFFFF"/>
                </a:solidFill>
                <a:effectLst/>
                <a:uFillTx/>
                <a:latin typeface="Adani Regular"/>
              </a:rPr>
              <a:t>CONFIDENTIAL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Box 47"/>
          <p:cNvSpPr/>
          <p:nvPr/>
        </p:nvSpPr>
        <p:spPr>
          <a:xfrm>
            <a:off x="5919480" y="1158480"/>
            <a:ext cx="4695840" cy="7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AU" sz="3200" b="0" u="none" strike="noStrike">
                <a:solidFill>
                  <a:srgbClr val="00A1E0"/>
                </a:solidFill>
                <a:effectLst/>
                <a:uFillTx/>
                <a:latin typeface="Adani Light"/>
              </a:rPr>
              <a:t>Cont</a:t>
            </a:r>
            <a:r>
              <a:rPr lang="en-AU" sz="3200" b="0" u="none" strike="noStrike">
                <a:solidFill>
                  <a:srgbClr val="00A1E0"/>
                </a:solidFill>
                <a:effectLst/>
                <a:uFillTx/>
                <a:latin typeface="Adani Light"/>
              </a:rPr>
              <a:t>ents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" name="Straight Connector 57"/>
          <p:cNvCxnSpPr/>
          <p:nvPr/>
        </p:nvCxnSpPr>
        <p:spPr>
          <a:xfrm>
            <a:off x="0" y="6555600"/>
            <a:ext cx="12193200" cy="144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20" name="TextBox 78"/>
          <p:cNvSpPr/>
          <p:nvPr/>
        </p:nvSpPr>
        <p:spPr>
          <a:xfrm>
            <a:off x="229680" y="6557040"/>
            <a:ext cx="14860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AU" sz="700" b="0" u="none" strike="noStrike" cap="all">
                <a:solidFill>
                  <a:srgbClr val="FFFFFF"/>
                </a:solidFill>
                <a:effectLst/>
                <a:uFillTx/>
                <a:latin typeface="Adani Regular"/>
              </a:rPr>
              <a:t>STRICTLY </a:t>
            </a:r>
            <a:r>
              <a:rPr lang="en-AU" sz="700" b="0" u="none" strike="noStrike" cap="all">
                <a:solidFill>
                  <a:srgbClr val="FFFFFF"/>
                </a:solidFill>
                <a:effectLst/>
                <a:uFillTx/>
                <a:latin typeface="Adani Regular"/>
              </a:rPr>
              <a:t>CONFIDENTIAL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bg object 16"/>
          <p:cNvPicPr/>
          <p:nvPr/>
        </p:nvPicPr>
        <p:blipFill>
          <a:blip r:embed="rId2"/>
          <a:stretch/>
        </p:blipFill>
        <p:spPr>
          <a:xfrm>
            <a:off x="0" y="1440"/>
            <a:ext cx="12190680" cy="685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bg object 17"/>
          <p:cNvPicPr/>
          <p:nvPr/>
        </p:nvPicPr>
        <p:blipFill>
          <a:blip r:embed="rId3"/>
          <a:stretch/>
        </p:blipFill>
        <p:spPr>
          <a:xfrm>
            <a:off x="111600" y="224280"/>
            <a:ext cx="1602720" cy="97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ftr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dt" idx="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8C0CA42-5FDB-494D-96F4-AF8617703A88}" type="slidenum"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" name="Picture 2" descr="D:\Corp Comm Department Work 2015\Brand Adani 2012\adani_gradient_master.jpg"/>
          <p:cNvPicPr/>
          <p:nvPr/>
        </p:nvPicPr>
        <p:blipFill>
          <a:blip r:embed="rId4"/>
          <a:stretch/>
        </p:blipFill>
        <p:spPr>
          <a:xfrm>
            <a:off x="6852600" y="1942560"/>
            <a:ext cx="4766040" cy="4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text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divi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54"/>
          <p:cNvSpPr/>
          <p:nvPr/>
        </p:nvSpPr>
        <p:spPr>
          <a:xfrm>
            <a:off x="229680" y="6557040"/>
            <a:ext cx="14860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AU" sz="700" b="0" u="none" strike="noStrike" cap="all">
                <a:solidFill>
                  <a:srgbClr val="FFFFFF"/>
                </a:solidFill>
                <a:effectLst/>
                <a:uFillTx/>
                <a:latin typeface="Adani Regular"/>
              </a:rPr>
              <a:t>STRICTLY </a:t>
            </a:r>
            <a:r>
              <a:rPr lang="en-AU" sz="700" b="0" u="none" strike="noStrike" cap="all">
                <a:solidFill>
                  <a:srgbClr val="FFFFFF"/>
                </a:solidFill>
                <a:effectLst/>
                <a:uFillTx/>
                <a:latin typeface="Adani Regular"/>
              </a:rPr>
              <a:t>CONFIDENTIAL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Box 71"/>
          <p:cNvSpPr/>
          <p:nvPr/>
        </p:nvSpPr>
        <p:spPr>
          <a:xfrm>
            <a:off x="229680" y="6557040"/>
            <a:ext cx="14860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AU" sz="700" b="0" u="none" strike="noStrike" cap="all">
                <a:solidFill>
                  <a:srgbClr val="FFFFFF"/>
                </a:solidFill>
                <a:effectLst/>
                <a:uFillTx/>
                <a:latin typeface="Adani Regular"/>
              </a:rPr>
              <a:t>STRICTLY </a:t>
            </a:r>
            <a:r>
              <a:rPr lang="en-AU" sz="700" b="0" u="none" strike="noStrike" cap="all">
                <a:solidFill>
                  <a:srgbClr val="FFFFFF"/>
                </a:solidFill>
                <a:effectLst/>
                <a:uFillTx/>
                <a:latin typeface="Adani Regular"/>
              </a:rPr>
              <a:t>CONFIDENTIAL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" name="Straight Connector 72"/>
          <p:cNvCxnSpPr/>
          <p:nvPr/>
        </p:nvCxnSpPr>
        <p:spPr>
          <a:xfrm>
            <a:off x="0" y="6555600"/>
            <a:ext cx="12193200" cy="144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cxnSp>
        <p:nvCxnSpPr>
          <p:cNvPr id="32" name="Straight Connector 73"/>
          <p:cNvCxnSpPr/>
          <p:nvPr/>
        </p:nvCxnSpPr>
        <p:spPr>
          <a:xfrm>
            <a:off x="0" y="6555600"/>
            <a:ext cx="12193200" cy="144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33" name="PlaceHolder 1"/>
          <p:cNvSpPr>
            <a:spLocks noGrp="1"/>
          </p:cNvSpPr>
          <p:nvPr>
            <p:ph type="body"/>
          </p:nvPr>
        </p:nvSpPr>
        <p:spPr>
          <a:xfrm>
            <a:off x="4146120" y="5207400"/>
            <a:ext cx="7754400" cy="862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1460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718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Rectangle 39"/>
          <p:cNvSpPr/>
          <p:nvPr/>
        </p:nvSpPr>
        <p:spPr>
          <a:xfrm>
            <a:off x="0" y="0"/>
            <a:ext cx="12183120" cy="6856560"/>
          </a:xfrm>
          <a:prstGeom prst="rect">
            <a:avLst/>
          </a:prstGeom>
          <a:noFill/>
          <a:ln w="6350"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AU" sz="1000" b="0" u="none" strike="noStrike">
              <a:solidFill>
                <a:srgbClr val="FFFFFF"/>
              </a:solidFill>
              <a:effectLst/>
              <a:uFillTx/>
              <a:latin typeface="Adani Regular"/>
            </a:endParaRPr>
          </a:p>
        </p:txBody>
      </p:sp>
      <p:pic>
        <p:nvPicPr>
          <p:cNvPr id="35" name="Picture 74"/>
          <p:cNvPicPr/>
          <p:nvPr/>
        </p:nvPicPr>
        <p:blipFill>
          <a:blip r:embed="rId2"/>
          <a:stretch/>
        </p:blipFill>
        <p:spPr>
          <a:xfrm>
            <a:off x="10973520" y="6659280"/>
            <a:ext cx="927000" cy="9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Picture 10"/>
          <p:cNvPicPr/>
          <p:nvPr/>
        </p:nvPicPr>
        <p:blipFill>
          <a:blip r:embed="rId3"/>
          <a:srcRect l="0" t="0" r="0" b="35680"/>
          <a:stretch/>
        </p:blipFill>
        <p:spPr>
          <a:xfrm>
            <a:off x="606600" y="549000"/>
            <a:ext cx="1341360" cy="5742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06720" y="-8280"/>
            <a:ext cx="10828080" cy="76824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rPr>
              <a:t>Click </a:t>
            </a:r>
            <a:r>
              <a: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rPr>
              <a:t>to edit </a:t>
            </a:r>
            <a:r>
              <a: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rPr>
              <a:t>Master </a:t>
            </a:r>
            <a:r>
              <a: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rPr>
              <a:t>title </a:t>
            </a:r>
            <a:r>
              <a: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rPr>
              <a:t>style</a:t>
            </a:r>
            <a:endParaRPr lang="en-US" sz="2200" b="0" u="none" strike="noStrike">
              <a:solidFill>
                <a:srgbClr val="002060"/>
              </a:solidFill>
              <a:effectLst/>
              <a:uFillTx/>
              <a:latin typeface="Adani Medium"/>
            </a:endParaRPr>
          </a:p>
        </p:txBody>
      </p:sp>
      <p:pic>
        <p:nvPicPr>
          <p:cNvPr id="38" name="Picture 10"/>
          <p:cNvPicPr/>
          <p:nvPr/>
        </p:nvPicPr>
        <p:blipFill>
          <a:blip r:embed="rId2"/>
          <a:stretch/>
        </p:blipFill>
        <p:spPr>
          <a:xfrm>
            <a:off x="11997720" y="6380280"/>
            <a:ext cx="198000" cy="395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9" name="Straight Connector 12"/>
          <p:cNvCxnSpPr/>
          <p:nvPr/>
        </p:nvCxnSpPr>
        <p:spPr>
          <a:xfrm>
            <a:off x="11892600" y="6579000"/>
            <a:ext cx="79920" cy="1440"/>
          </a:xfrm>
          <a:prstGeom prst="straightConnector1">
            <a:avLst/>
          </a:prstGeom>
          <a:ln w="3175">
            <a:solidFill>
              <a:srgbClr val="A6A6A6"/>
            </a:solidFill>
            <a:round/>
          </a:ln>
        </p:spPr>
      </p:cxnSp>
      <p:grpSp>
        <p:nvGrpSpPr>
          <p:cNvPr id="40" name="Group 2"/>
          <p:cNvGrpSpPr/>
          <p:nvPr/>
        </p:nvGrpSpPr>
        <p:grpSpPr>
          <a:xfrm>
            <a:off x="391680" y="746640"/>
            <a:ext cx="10745280" cy="61920"/>
            <a:chOff x="391680" y="746640"/>
            <a:chExt cx="10745280" cy="61920"/>
          </a:xfrm>
        </p:grpSpPr>
        <p:cxnSp>
          <p:nvCxnSpPr>
            <p:cNvPr id="41" name="Straight Connector 9"/>
            <p:cNvCxnSpPr/>
            <p:nvPr/>
          </p:nvCxnSpPr>
          <p:spPr>
            <a:xfrm>
              <a:off x="391680" y="807480"/>
              <a:ext cx="10745640" cy="1440"/>
            </a:xfrm>
            <a:prstGeom prst="straightConnector1">
              <a:avLst/>
            </a:prstGeom>
            <a:ln w="0">
              <a:solidFill>
                <a:srgbClr val="A6A6A6"/>
              </a:solidFill>
            </a:ln>
          </p:spPr>
        </p:cxnSp>
        <p:pic>
          <p:nvPicPr>
            <p:cNvPr id="42" name="Picture 2" descr="D:\Corp Comm Department Work 2015\Brand Adani 2012\adani_gradient_master.jpg"/>
            <p:cNvPicPr/>
            <p:nvPr/>
          </p:nvPicPr>
          <p:blipFill>
            <a:blip r:embed="rId3"/>
            <a:stretch/>
          </p:blipFill>
          <p:spPr>
            <a:xfrm>
              <a:off x="391680" y="746640"/>
              <a:ext cx="7303680" cy="5940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43" name="Picture 3" descr="A close-up of a logo&#10;&#10;Description automatically generated"/>
          <p:cNvPicPr/>
          <p:nvPr/>
        </p:nvPicPr>
        <p:blipFill>
          <a:blip r:embed="rId4"/>
          <a:srcRect l="21430" t="8115" r="26662" b="72248"/>
          <a:stretch/>
        </p:blipFill>
        <p:spPr>
          <a:xfrm>
            <a:off x="10743840" y="241560"/>
            <a:ext cx="1206720" cy="4561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06720" y="-8280"/>
            <a:ext cx="10828080" cy="76824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rPr>
              <a:t>Click </a:t>
            </a:r>
            <a:r>
              <a: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rPr>
              <a:t>to edit </a:t>
            </a:r>
            <a:r>
              <a: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rPr>
              <a:t>Master </a:t>
            </a:r>
            <a:r>
              <a: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rPr>
              <a:t>title </a:t>
            </a:r>
            <a:r>
              <a: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rPr>
              <a:t>style</a:t>
            </a:r>
            <a:endParaRPr lang="en-US" sz="2200" b="0" u="none" strike="noStrike">
              <a:solidFill>
                <a:srgbClr val="002060"/>
              </a:solidFill>
              <a:effectLst/>
              <a:uFillTx/>
              <a:latin typeface="Adani Medium"/>
            </a:endParaRPr>
          </a:p>
        </p:txBody>
      </p:sp>
      <p:pic>
        <p:nvPicPr>
          <p:cNvPr id="45" name="Picture 10"/>
          <p:cNvPicPr/>
          <p:nvPr/>
        </p:nvPicPr>
        <p:blipFill>
          <a:blip r:embed="rId2"/>
          <a:stretch/>
        </p:blipFill>
        <p:spPr>
          <a:xfrm>
            <a:off x="11997720" y="6380280"/>
            <a:ext cx="198000" cy="395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6" name="Straight Connector 12"/>
          <p:cNvCxnSpPr/>
          <p:nvPr/>
        </p:nvCxnSpPr>
        <p:spPr>
          <a:xfrm>
            <a:off x="11892600" y="6579000"/>
            <a:ext cx="79920" cy="1440"/>
          </a:xfrm>
          <a:prstGeom prst="straightConnector1">
            <a:avLst/>
          </a:prstGeom>
          <a:ln w="3175">
            <a:solidFill>
              <a:srgbClr val="A6A6A6"/>
            </a:solidFill>
            <a:round/>
          </a:ln>
        </p:spPr>
      </p:cxnSp>
      <p:grpSp>
        <p:nvGrpSpPr>
          <p:cNvPr id="47" name="Group 2"/>
          <p:cNvGrpSpPr/>
          <p:nvPr/>
        </p:nvGrpSpPr>
        <p:grpSpPr>
          <a:xfrm>
            <a:off x="391680" y="746640"/>
            <a:ext cx="10745280" cy="61920"/>
            <a:chOff x="391680" y="746640"/>
            <a:chExt cx="10745280" cy="61920"/>
          </a:xfrm>
        </p:grpSpPr>
        <p:cxnSp>
          <p:nvCxnSpPr>
            <p:cNvPr id="48" name="Straight Connector 9"/>
            <p:cNvCxnSpPr/>
            <p:nvPr/>
          </p:nvCxnSpPr>
          <p:spPr>
            <a:xfrm>
              <a:off x="391680" y="807480"/>
              <a:ext cx="10745640" cy="1440"/>
            </a:xfrm>
            <a:prstGeom prst="straightConnector1">
              <a:avLst/>
            </a:prstGeom>
            <a:ln w="0">
              <a:solidFill>
                <a:srgbClr val="A6A6A6"/>
              </a:solidFill>
            </a:ln>
          </p:spPr>
        </p:cxnSp>
        <p:pic>
          <p:nvPicPr>
            <p:cNvPr id="49" name="Picture 2" descr="D:\Corp Comm Department Work 2015\Brand Adani 2012\adani_gradient_master.jpg"/>
            <p:cNvPicPr/>
            <p:nvPr/>
          </p:nvPicPr>
          <p:blipFill>
            <a:blip r:embed="rId3"/>
            <a:stretch/>
          </p:blipFill>
          <p:spPr>
            <a:xfrm>
              <a:off x="391680" y="746640"/>
              <a:ext cx="7303680" cy="5940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50" name="Picture 3" descr="A close-up of a logo&#10;&#10;Description automatically generated"/>
          <p:cNvPicPr/>
          <p:nvPr/>
        </p:nvPicPr>
        <p:blipFill>
          <a:blip r:embed="rId4"/>
          <a:srcRect l="21430" t="8115" r="26662" b="72248"/>
          <a:stretch/>
        </p:blipFill>
        <p:spPr>
          <a:xfrm>
            <a:off x="10743840" y="241560"/>
            <a:ext cx="1206720" cy="4561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06720" y="-8280"/>
            <a:ext cx="10828080" cy="76824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rPr>
              <a:t>Click </a:t>
            </a:r>
            <a:r>
              <a: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rPr>
              <a:t>to edit </a:t>
            </a:r>
            <a:r>
              <a: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rPr>
              <a:t>Master </a:t>
            </a:r>
            <a:r>
              <a: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rPr>
              <a:t>title </a:t>
            </a:r>
            <a:r>
              <a: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rPr>
              <a:t>style</a:t>
            </a:r>
            <a:endParaRPr lang="en-US" sz="2200" b="0" u="none" strike="noStrike">
              <a:solidFill>
                <a:srgbClr val="002060"/>
              </a:solidFill>
              <a:effectLst/>
              <a:uFillTx/>
              <a:latin typeface="Adani Medium"/>
            </a:endParaRPr>
          </a:p>
        </p:txBody>
      </p:sp>
      <p:pic>
        <p:nvPicPr>
          <p:cNvPr id="52" name="Picture 10"/>
          <p:cNvPicPr/>
          <p:nvPr/>
        </p:nvPicPr>
        <p:blipFill>
          <a:blip r:embed="rId2"/>
          <a:stretch/>
        </p:blipFill>
        <p:spPr>
          <a:xfrm>
            <a:off x="11997720" y="6380280"/>
            <a:ext cx="198000" cy="395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3" name="Straight Connector 12"/>
          <p:cNvCxnSpPr/>
          <p:nvPr/>
        </p:nvCxnSpPr>
        <p:spPr>
          <a:xfrm>
            <a:off x="11892600" y="6579000"/>
            <a:ext cx="79920" cy="1440"/>
          </a:xfrm>
          <a:prstGeom prst="straightConnector1">
            <a:avLst/>
          </a:prstGeom>
          <a:ln w="3175">
            <a:solidFill>
              <a:srgbClr val="A6A6A6"/>
            </a:solidFill>
            <a:round/>
          </a:ln>
        </p:spPr>
      </p:cxnSp>
      <p:grpSp>
        <p:nvGrpSpPr>
          <p:cNvPr id="54" name="Group 2"/>
          <p:cNvGrpSpPr/>
          <p:nvPr/>
        </p:nvGrpSpPr>
        <p:grpSpPr>
          <a:xfrm>
            <a:off x="391680" y="746640"/>
            <a:ext cx="10745280" cy="61920"/>
            <a:chOff x="391680" y="746640"/>
            <a:chExt cx="10745280" cy="61920"/>
          </a:xfrm>
        </p:grpSpPr>
        <p:cxnSp>
          <p:nvCxnSpPr>
            <p:cNvPr id="55" name="Straight Connector 9"/>
            <p:cNvCxnSpPr/>
            <p:nvPr/>
          </p:nvCxnSpPr>
          <p:spPr>
            <a:xfrm>
              <a:off x="391680" y="807480"/>
              <a:ext cx="10745640" cy="1440"/>
            </a:xfrm>
            <a:prstGeom prst="straightConnector1">
              <a:avLst/>
            </a:prstGeom>
            <a:ln w="0">
              <a:solidFill>
                <a:srgbClr val="A6A6A6"/>
              </a:solidFill>
            </a:ln>
          </p:spPr>
        </p:cxnSp>
        <p:pic>
          <p:nvPicPr>
            <p:cNvPr id="56" name="Picture 2" descr="D:\Corp Comm Department Work 2015\Brand Adani 2012\adani_gradient_master.jpg"/>
            <p:cNvPicPr/>
            <p:nvPr/>
          </p:nvPicPr>
          <p:blipFill>
            <a:blip r:embed="rId3"/>
            <a:stretch/>
          </p:blipFill>
          <p:spPr>
            <a:xfrm>
              <a:off x="391680" y="746640"/>
              <a:ext cx="7303680" cy="5940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57" name="Picture 3" descr="A close-up of a logo&#10;&#10;Description automatically generated"/>
          <p:cNvPicPr/>
          <p:nvPr/>
        </p:nvPicPr>
        <p:blipFill>
          <a:blip r:embed="rId4"/>
          <a:srcRect l="21430" t="8115" r="26662" b="72248"/>
          <a:stretch/>
        </p:blipFill>
        <p:spPr>
          <a:xfrm>
            <a:off x="10743840" y="241560"/>
            <a:ext cx="1206720" cy="4561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06720" y="-8280"/>
            <a:ext cx="10828080" cy="76824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rPr>
              <a:t>Click </a:t>
            </a:r>
            <a:r>
              <a: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rPr>
              <a:t>to edit </a:t>
            </a:r>
            <a:r>
              <a: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rPr>
              <a:t>Master </a:t>
            </a:r>
            <a:r>
              <a: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rPr>
              <a:t>title </a:t>
            </a:r>
            <a:r>
              <a: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rPr>
              <a:t>style</a:t>
            </a:r>
            <a:endParaRPr lang="en-US" sz="2200" b="0" u="none" strike="noStrike">
              <a:solidFill>
                <a:srgbClr val="002060"/>
              </a:solidFill>
              <a:effectLst/>
              <a:uFillTx/>
              <a:latin typeface="Adani Medium"/>
            </a:endParaRPr>
          </a:p>
        </p:txBody>
      </p:sp>
      <p:pic>
        <p:nvPicPr>
          <p:cNvPr id="59" name="Picture 10"/>
          <p:cNvPicPr/>
          <p:nvPr/>
        </p:nvPicPr>
        <p:blipFill>
          <a:blip r:embed="rId2"/>
          <a:stretch/>
        </p:blipFill>
        <p:spPr>
          <a:xfrm>
            <a:off x="11997720" y="6380280"/>
            <a:ext cx="198000" cy="395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0" name="Straight Connector 12"/>
          <p:cNvCxnSpPr/>
          <p:nvPr/>
        </p:nvCxnSpPr>
        <p:spPr>
          <a:xfrm>
            <a:off x="11892600" y="6579000"/>
            <a:ext cx="79920" cy="1440"/>
          </a:xfrm>
          <a:prstGeom prst="straightConnector1">
            <a:avLst/>
          </a:prstGeom>
          <a:ln w="3175">
            <a:solidFill>
              <a:srgbClr val="A6A6A6"/>
            </a:solidFill>
            <a:round/>
          </a:ln>
        </p:spPr>
      </p:cxnSp>
      <p:grpSp>
        <p:nvGrpSpPr>
          <p:cNvPr id="61" name="Group 2"/>
          <p:cNvGrpSpPr/>
          <p:nvPr/>
        </p:nvGrpSpPr>
        <p:grpSpPr>
          <a:xfrm>
            <a:off x="391680" y="746640"/>
            <a:ext cx="10745280" cy="61920"/>
            <a:chOff x="391680" y="746640"/>
            <a:chExt cx="10745280" cy="61920"/>
          </a:xfrm>
        </p:grpSpPr>
        <p:cxnSp>
          <p:nvCxnSpPr>
            <p:cNvPr id="62" name="Straight Connector 9"/>
            <p:cNvCxnSpPr/>
            <p:nvPr/>
          </p:nvCxnSpPr>
          <p:spPr>
            <a:xfrm>
              <a:off x="391680" y="807480"/>
              <a:ext cx="10745640" cy="1440"/>
            </a:xfrm>
            <a:prstGeom prst="straightConnector1">
              <a:avLst/>
            </a:prstGeom>
            <a:ln w="0">
              <a:solidFill>
                <a:srgbClr val="A6A6A6"/>
              </a:solidFill>
            </a:ln>
          </p:spPr>
        </p:cxnSp>
        <p:pic>
          <p:nvPicPr>
            <p:cNvPr id="63" name="Picture 2" descr="D:\Corp Comm Department Work 2015\Brand Adani 2012\adani_gradient_master.jpg"/>
            <p:cNvPicPr/>
            <p:nvPr/>
          </p:nvPicPr>
          <p:blipFill>
            <a:blip r:embed="rId3"/>
            <a:stretch/>
          </p:blipFill>
          <p:spPr>
            <a:xfrm>
              <a:off x="391680" y="746640"/>
              <a:ext cx="7303680" cy="5940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64" name="Picture 3" descr="A close-up of a logo&#10;&#10;Description automatically generated"/>
          <p:cNvPicPr/>
          <p:nvPr/>
        </p:nvPicPr>
        <p:blipFill>
          <a:blip r:embed="rId4"/>
          <a:srcRect l="21430" t="8115" r="26662" b="72248"/>
          <a:stretch/>
        </p:blipFill>
        <p:spPr>
          <a:xfrm>
            <a:off x="10743840" y="241560"/>
            <a:ext cx="1206720" cy="4561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06720" y="-8280"/>
            <a:ext cx="10828080" cy="76824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rPr>
              <a:t>Click </a:t>
            </a:r>
            <a:r>
              <a: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rPr>
              <a:t>to edit </a:t>
            </a:r>
            <a:r>
              <a: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rPr>
              <a:t>Master </a:t>
            </a:r>
            <a:r>
              <a: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rPr>
              <a:t>title </a:t>
            </a:r>
            <a:r>
              <a:rPr lang="en-US" sz="2200" b="0" u="none" strike="noStrike">
                <a:solidFill>
                  <a:srgbClr val="002060"/>
                </a:solidFill>
                <a:effectLst/>
                <a:uFillTx/>
                <a:latin typeface="Adani Medium"/>
              </a:rPr>
              <a:t>style</a:t>
            </a:r>
            <a:endParaRPr lang="en-US" sz="2200" b="0" u="none" strike="noStrike">
              <a:solidFill>
                <a:srgbClr val="002060"/>
              </a:solidFill>
              <a:effectLst/>
              <a:uFillTx/>
              <a:latin typeface="Adani Medium"/>
            </a:endParaRPr>
          </a:p>
        </p:txBody>
      </p:sp>
      <p:pic>
        <p:nvPicPr>
          <p:cNvPr id="66" name="Picture 10"/>
          <p:cNvPicPr/>
          <p:nvPr/>
        </p:nvPicPr>
        <p:blipFill>
          <a:blip r:embed="rId2"/>
          <a:stretch/>
        </p:blipFill>
        <p:spPr>
          <a:xfrm>
            <a:off x="11997720" y="6380280"/>
            <a:ext cx="198000" cy="395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7" name="Straight Connector 12"/>
          <p:cNvCxnSpPr/>
          <p:nvPr/>
        </p:nvCxnSpPr>
        <p:spPr>
          <a:xfrm>
            <a:off x="11892600" y="6579000"/>
            <a:ext cx="79920" cy="1440"/>
          </a:xfrm>
          <a:prstGeom prst="straightConnector1">
            <a:avLst/>
          </a:prstGeom>
          <a:ln w="3175">
            <a:solidFill>
              <a:srgbClr val="A6A6A6"/>
            </a:solidFill>
            <a:round/>
          </a:ln>
        </p:spPr>
      </p:cxnSp>
      <p:grpSp>
        <p:nvGrpSpPr>
          <p:cNvPr id="68" name="Group 2"/>
          <p:cNvGrpSpPr/>
          <p:nvPr/>
        </p:nvGrpSpPr>
        <p:grpSpPr>
          <a:xfrm>
            <a:off x="391680" y="746640"/>
            <a:ext cx="10745280" cy="61920"/>
            <a:chOff x="391680" y="746640"/>
            <a:chExt cx="10745280" cy="61920"/>
          </a:xfrm>
        </p:grpSpPr>
        <p:cxnSp>
          <p:nvCxnSpPr>
            <p:cNvPr id="69" name="Straight Connector 9"/>
            <p:cNvCxnSpPr/>
            <p:nvPr/>
          </p:nvCxnSpPr>
          <p:spPr>
            <a:xfrm>
              <a:off x="391680" y="807480"/>
              <a:ext cx="10745640" cy="1440"/>
            </a:xfrm>
            <a:prstGeom prst="straightConnector1">
              <a:avLst/>
            </a:prstGeom>
            <a:ln w="0">
              <a:solidFill>
                <a:srgbClr val="A6A6A6"/>
              </a:solidFill>
            </a:ln>
          </p:spPr>
        </p:cxnSp>
        <p:pic>
          <p:nvPicPr>
            <p:cNvPr id="70" name="Picture 2" descr="D:\Corp Comm Department Work 2015\Brand Adani 2012\adani_gradient_master.jpg"/>
            <p:cNvPicPr/>
            <p:nvPr/>
          </p:nvPicPr>
          <p:blipFill>
            <a:blip r:embed="rId3"/>
            <a:stretch/>
          </p:blipFill>
          <p:spPr>
            <a:xfrm>
              <a:off x="391680" y="746640"/>
              <a:ext cx="7303680" cy="5940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71" name="Picture 3" descr="A close-up of a logo&#10;&#10;Description automatically generated"/>
          <p:cNvPicPr/>
          <p:nvPr/>
        </p:nvPicPr>
        <p:blipFill>
          <a:blip r:embed="rId4"/>
          <a:srcRect l="21430" t="8115" r="26662" b="72248"/>
          <a:stretch/>
        </p:blipFill>
        <p:spPr>
          <a:xfrm>
            <a:off x="10743840" y="241560"/>
            <a:ext cx="1206720" cy="4561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3"/>
          <p:cNvPicPr/>
          <p:nvPr/>
        </p:nvPicPr>
        <p:blipFill>
          <a:blip r:embed="rId2"/>
          <a:stretch/>
        </p:blipFill>
        <p:spPr>
          <a:xfrm>
            <a:off x="0" y="1080"/>
            <a:ext cx="12190680" cy="68544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</p:pic>
      <p:sp>
        <p:nvSpPr>
          <p:cNvPr id="73" name="Rectangle 2"/>
          <p:cNvSpPr/>
          <p:nvPr/>
        </p:nvSpPr>
        <p:spPr>
          <a:xfrm>
            <a:off x="4055760" y="308520"/>
            <a:ext cx="4079160" cy="3353760"/>
          </a:xfrm>
          <a:prstGeom prst="rect">
            <a:avLst/>
          </a:prstGeom>
          <a:solidFill>
            <a:srgbClr val="F1F1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lIns="122040" tIns="60840" rIns="122040" bIns="60840" anchor="ctr">
            <a:noAutofit/>
          </a:bodyPr>
          <a:p>
            <a:endParaRPr lang="en-IN" sz="3200" b="0" u="none" strike="noStrike">
              <a:solidFill>
                <a:srgbClr val="FFFFFF"/>
              </a:solidFill>
              <a:effectLst/>
              <a:uFillTx/>
              <a:latin typeface="Adani Regular"/>
            </a:endParaRPr>
          </a:p>
        </p:txBody>
      </p:sp>
      <p:pic>
        <p:nvPicPr>
          <p:cNvPr id="74" name="Picture 2" descr="Image result for adani renewables logo"/>
          <p:cNvPicPr/>
          <p:nvPr/>
        </p:nvPicPr>
        <p:blipFill>
          <a:blip r:embed="rId3"/>
          <a:srcRect l="0" t="0" r="0" b="36316"/>
          <a:stretch/>
        </p:blipFill>
        <p:spPr>
          <a:xfrm>
            <a:off x="5119560" y="1319400"/>
            <a:ext cx="1951560" cy="84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0" y="4233960"/>
            <a:ext cx="12190680" cy="99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rPr>
              <a:t>Click </a:t>
            </a: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rPr>
              <a:t>to </a:t>
            </a: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rPr>
              <a:t>edit </a:t>
            </a: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rPr>
              <a:t>Mast</a:t>
            </a: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rPr>
              <a:t>er </a:t>
            </a: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rPr>
              <a:t>title </a:t>
            </a: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rPr>
              <a:t>style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Adani Medium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12"/>
          <p:cNvPicPr/>
          <p:nvPr/>
        </p:nvPicPr>
        <p:blipFill>
          <a:blip r:embed="rId2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Picture 14"/>
          <p:cNvPicPr/>
          <p:nvPr/>
        </p:nvPicPr>
        <p:blipFill>
          <a:blip r:embed="rId3"/>
          <a:stretch/>
        </p:blipFill>
        <p:spPr>
          <a:xfrm>
            <a:off x="6275880" y="1940040"/>
            <a:ext cx="5578560" cy="4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Picture 16"/>
          <p:cNvPicPr/>
          <p:nvPr/>
        </p:nvPicPr>
        <p:blipFill>
          <a:blip r:embed="rId4"/>
          <a:srcRect l="0" t="0" r="0" b="39702"/>
          <a:stretch/>
        </p:blipFill>
        <p:spPr>
          <a:xfrm>
            <a:off x="606600" y="549000"/>
            <a:ext cx="1341360" cy="5382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3"/>
          <p:cNvPicPr/>
          <p:nvPr/>
        </p:nvPicPr>
        <p:blipFill>
          <a:blip r:embed="rId2"/>
          <a:stretch/>
        </p:blipFill>
        <p:spPr>
          <a:xfrm>
            <a:off x="0" y="1080"/>
            <a:ext cx="12190680" cy="685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Rectangle 4"/>
          <p:cNvSpPr/>
          <p:nvPr/>
        </p:nvSpPr>
        <p:spPr>
          <a:xfrm>
            <a:off x="4055760" y="308520"/>
            <a:ext cx="4079160" cy="3353760"/>
          </a:xfrm>
          <a:prstGeom prst="rect">
            <a:avLst/>
          </a:prstGeom>
          <a:solidFill>
            <a:srgbClr val="F1F1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lIns="122040" tIns="60840" rIns="122040" bIns="60840" anchor="ctr">
            <a:noAutofit/>
          </a:bodyPr>
          <a:p>
            <a:endParaRPr lang="en-IN" sz="3200" b="0" u="none" strike="noStrike">
              <a:solidFill>
                <a:srgbClr val="FFFFFF"/>
              </a:solidFill>
              <a:effectLst/>
              <a:uFillTx/>
              <a:latin typeface="Adani Regular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0" y="4233960"/>
            <a:ext cx="12190680" cy="99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rPr>
              <a:t>Click </a:t>
            </a: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rPr>
              <a:t>to </a:t>
            </a: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rPr>
              <a:t>edit </a:t>
            </a: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rPr>
              <a:t>Mast</a:t>
            </a: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rPr>
              <a:t>er </a:t>
            </a: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rPr>
              <a:t>title </a:t>
            </a: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rPr>
              <a:t>style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Adani Medium"/>
            </a:endParaRPr>
          </a:p>
        </p:txBody>
      </p:sp>
      <p:pic>
        <p:nvPicPr>
          <p:cNvPr id="82" name="Picture 2" descr="Image result for adani renewables logo"/>
          <p:cNvPicPr/>
          <p:nvPr/>
        </p:nvPicPr>
        <p:blipFill>
          <a:blip r:embed="rId3"/>
          <a:srcRect l="0" t="0" r="0" b="36316"/>
          <a:stretch/>
        </p:blipFill>
        <p:spPr>
          <a:xfrm>
            <a:off x="5119560" y="1319400"/>
            <a:ext cx="1951560" cy="8481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3"/>
          <p:cNvPicPr/>
          <p:nvPr/>
        </p:nvPicPr>
        <p:blipFill>
          <a:blip r:embed="rId2"/>
          <a:stretch/>
        </p:blipFill>
        <p:spPr>
          <a:xfrm>
            <a:off x="0" y="1080"/>
            <a:ext cx="12190680" cy="685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Rectangle 4"/>
          <p:cNvSpPr/>
          <p:nvPr/>
        </p:nvSpPr>
        <p:spPr>
          <a:xfrm>
            <a:off x="4055760" y="308520"/>
            <a:ext cx="4079160" cy="3353760"/>
          </a:xfrm>
          <a:prstGeom prst="rect">
            <a:avLst/>
          </a:prstGeom>
          <a:solidFill>
            <a:srgbClr val="F1F1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lIns="122040" tIns="60840" rIns="122040" bIns="60840" anchor="ctr">
            <a:noAutofit/>
          </a:bodyPr>
          <a:p>
            <a:endParaRPr lang="en-IN" sz="3200" b="0" u="none" strike="noStrike">
              <a:solidFill>
                <a:srgbClr val="FFFFFF"/>
              </a:solidFill>
              <a:effectLst/>
              <a:uFillTx/>
              <a:latin typeface="Adani Regular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0" y="4233960"/>
            <a:ext cx="12190680" cy="99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rPr>
              <a:t>Click </a:t>
            </a: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rPr>
              <a:t>to </a:t>
            </a: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rPr>
              <a:t>edit </a:t>
            </a: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rPr>
              <a:t>Mast</a:t>
            </a: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rPr>
              <a:t>er </a:t>
            </a: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rPr>
              <a:t>title </a:t>
            </a: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rPr>
              <a:t>style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Adani Medium"/>
            </a:endParaRPr>
          </a:p>
        </p:txBody>
      </p:sp>
      <p:pic>
        <p:nvPicPr>
          <p:cNvPr id="86" name="Picture 2" descr="Image result for adani renewables logo"/>
          <p:cNvPicPr/>
          <p:nvPr/>
        </p:nvPicPr>
        <p:blipFill>
          <a:blip r:embed="rId3"/>
          <a:srcRect l="0" t="0" r="0" b="36316"/>
          <a:stretch/>
        </p:blipFill>
        <p:spPr>
          <a:xfrm>
            <a:off x="5119560" y="1319400"/>
            <a:ext cx="1951560" cy="8481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3"/>
          <p:cNvPicPr/>
          <p:nvPr/>
        </p:nvPicPr>
        <p:blipFill>
          <a:blip r:embed="rId2"/>
          <a:stretch/>
        </p:blipFill>
        <p:spPr>
          <a:xfrm>
            <a:off x="0" y="1080"/>
            <a:ext cx="12190680" cy="685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Rectangle 4"/>
          <p:cNvSpPr/>
          <p:nvPr/>
        </p:nvSpPr>
        <p:spPr>
          <a:xfrm>
            <a:off x="4055760" y="308520"/>
            <a:ext cx="4079160" cy="3353760"/>
          </a:xfrm>
          <a:prstGeom prst="rect">
            <a:avLst/>
          </a:prstGeom>
          <a:solidFill>
            <a:srgbClr val="F1F1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lIns="122040" tIns="60840" rIns="122040" bIns="60840" anchor="ctr">
            <a:noAutofit/>
          </a:bodyPr>
          <a:p>
            <a:endParaRPr lang="en-IN" sz="3200" b="0" u="none" strike="noStrike">
              <a:solidFill>
                <a:srgbClr val="FFFFFF"/>
              </a:solidFill>
              <a:effectLst/>
              <a:uFillTx/>
              <a:latin typeface="Adani Regular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0" y="4233960"/>
            <a:ext cx="12190680" cy="99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rPr>
              <a:t>Click </a:t>
            </a: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rPr>
              <a:t>to </a:t>
            </a: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rPr>
              <a:t>edit </a:t>
            </a: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rPr>
              <a:t>Mast</a:t>
            </a: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rPr>
              <a:t>er </a:t>
            </a: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rPr>
              <a:t>title </a:t>
            </a: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dani Medium"/>
              </a:rPr>
              <a:t>style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Adani Medium"/>
            </a:endParaRPr>
          </a:p>
        </p:txBody>
      </p:sp>
      <p:pic>
        <p:nvPicPr>
          <p:cNvPr id="90" name="Picture 2" descr="Image result for adani renewables logo"/>
          <p:cNvPicPr/>
          <p:nvPr/>
        </p:nvPicPr>
        <p:blipFill>
          <a:blip r:embed="rId3"/>
          <a:srcRect l="0" t="0" r="0" b="36316"/>
          <a:stretch/>
        </p:blipFill>
        <p:spPr>
          <a:xfrm>
            <a:off x="5119560" y="1319400"/>
            <a:ext cx="1951560" cy="8481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o Image - Title 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2" descr="D:\Corp Comm Department Work 2015\Brand Adani 2012\adani_gradient_master.jpg"/>
          <p:cNvPicPr/>
          <p:nvPr/>
        </p:nvPicPr>
        <p:blipFill>
          <a:blip r:embed="rId2"/>
          <a:stretch/>
        </p:blipFill>
        <p:spPr>
          <a:xfrm>
            <a:off x="5495760" y="3548880"/>
            <a:ext cx="6694560" cy="5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Picture 6"/>
          <p:cNvPicPr/>
          <p:nvPr/>
        </p:nvPicPr>
        <p:blipFill>
          <a:blip r:embed="rId3"/>
          <a:stretch/>
        </p:blipFill>
        <p:spPr>
          <a:xfrm>
            <a:off x="-14760" y="3412800"/>
            <a:ext cx="12190680" cy="344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bg object 17"/>
          <p:cNvPicPr/>
          <p:nvPr/>
        </p:nvPicPr>
        <p:blipFill>
          <a:blip r:embed="rId4"/>
          <a:stretch/>
        </p:blipFill>
        <p:spPr>
          <a:xfrm>
            <a:off x="4948920" y="1769760"/>
            <a:ext cx="2292480" cy="1494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Main Title 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divi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54"/>
          <p:cNvSpPr/>
          <p:nvPr/>
        </p:nvSpPr>
        <p:spPr>
          <a:xfrm>
            <a:off x="229680" y="6557040"/>
            <a:ext cx="14860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AU" sz="700" b="0" u="none" strike="noStrike" cap="all">
                <a:solidFill>
                  <a:srgbClr val="FFFFFF"/>
                </a:solidFill>
                <a:effectLst/>
                <a:uFillTx/>
                <a:latin typeface="Adani Regular"/>
              </a:rPr>
              <a:t>STRICTLY </a:t>
            </a:r>
            <a:r>
              <a:rPr lang="en-AU" sz="700" b="0" u="none" strike="noStrike" cap="all">
                <a:solidFill>
                  <a:srgbClr val="FFFFFF"/>
                </a:solidFill>
                <a:effectLst/>
                <a:uFillTx/>
                <a:latin typeface="Adani Regular"/>
              </a:rPr>
              <a:t>CONFIDENTIAL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71"/>
          <p:cNvSpPr/>
          <p:nvPr/>
        </p:nvSpPr>
        <p:spPr>
          <a:xfrm>
            <a:off x="229680" y="6557040"/>
            <a:ext cx="14860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AU" sz="700" b="0" u="none" strike="noStrike" cap="all">
                <a:solidFill>
                  <a:srgbClr val="FFFFFF"/>
                </a:solidFill>
                <a:effectLst/>
                <a:uFillTx/>
                <a:latin typeface="Adani Regular"/>
              </a:rPr>
              <a:t>STRICTLY </a:t>
            </a:r>
            <a:r>
              <a:rPr lang="en-AU" sz="700" b="0" u="none" strike="noStrike" cap="all">
                <a:solidFill>
                  <a:srgbClr val="FFFFFF"/>
                </a:solidFill>
                <a:effectLst/>
                <a:uFillTx/>
                <a:latin typeface="Adani Regular"/>
              </a:rPr>
              <a:t>CONFIDENTIAL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6" name="Straight Connector 72"/>
          <p:cNvCxnSpPr/>
          <p:nvPr/>
        </p:nvCxnSpPr>
        <p:spPr>
          <a:xfrm>
            <a:off x="0" y="6555600"/>
            <a:ext cx="12193200" cy="144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cxnSp>
        <p:nvCxnSpPr>
          <p:cNvPr id="97" name="Straight Connector 73"/>
          <p:cNvCxnSpPr/>
          <p:nvPr/>
        </p:nvCxnSpPr>
        <p:spPr>
          <a:xfrm>
            <a:off x="0" y="6555600"/>
            <a:ext cx="12193200" cy="144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98" name="PlaceHolder 1"/>
          <p:cNvSpPr>
            <a:spLocks noGrp="1"/>
          </p:cNvSpPr>
          <p:nvPr>
            <p:ph type="body" hasCustomPrompt="1"/>
          </p:nvPr>
        </p:nvSpPr>
        <p:spPr>
          <a:xfrm>
            <a:off x="4146120" y="5396400"/>
            <a:ext cx="7821000" cy="862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AU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Divider title goes here</a:t>
            </a:r>
            <a:endParaRPr lang="en-AU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title" hasCustomPrompt="1"/>
          </p:nvPr>
        </p:nvSpPr>
        <p:spPr>
          <a:xfrm>
            <a:off x="8959320" y="3518640"/>
            <a:ext cx="3091320" cy="1582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AU" sz="16000" b="1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AU" sz="160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#</a:t>
            </a:r>
            <a:endParaRPr lang="en-AU" sz="16000" b="1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00" name="Rectangle 39"/>
          <p:cNvSpPr/>
          <p:nvPr/>
        </p:nvSpPr>
        <p:spPr>
          <a:xfrm>
            <a:off x="0" y="0"/>
            <a:ext cx="12183120" cy="6856560"/>
          </a:xfrm>
          <a:prstGeom prst="rect">
            <a:avLst/>
          </a:prstGeom>
          <a:noFill/>
          <a:ln w="6350"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AU" sz="1000" b="0" u="none" strike="noStrike">
              <a:solidFill>
                <a:srgbClr val="FFFFFF"/>
              </a:solidFill>
              <a:effectLst/>
              <a:uFillTx/>
              <a:latin typeface="Adani Regular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Object 1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102" name="Object 1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03" name="PlaceHolder 1"/>
          <p:cNvSpPr>
            <a:spLocks noGrp="1"/>
          </p:cNvSpPr>
          <p:nvPr>
            <p:ph type="ftr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dt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29AC4AA-450A-4317-A1A3-E93294D45B27}" type="slidenum"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6" name="bg object 16"/>
          <p:cNvPicPr/>
          <p:nvPr/>
        </p:nvPicPr>
        <p:blipFill>
          <a:blip r:embed="rId4"/>
          <a:stretch/>
        </p:blipFill>
        <p:spPr>
          <a:xfrm>
            <a:off x="0" y="1440"/>
            <a:ext cx="12190680" cy="685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bg object 17"/>
          <p:cNvPicPr/>
          <p:nvPr/>
        </p:nvPicPr>
        <p:blipFill>
          <a:blip r:embed="rId5"/>
          <a:stretch/>
        </p:blipFill>
        <p:spPr>
          <a:xfrm>
            <a:off x="111600" y="224280"/>
            <a:ext cx="1602720" cy="97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Holder 3"/>
          <p:cNvSpPr/>
          <p:nvPr/>
        </p:nvSpPr>
        <p:spPr>
          <a:xfrm>
            <a:off x="0" y="0"/>
            <a:ext cx="360" cy="3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1/2/2026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Holder 4"/>
          <p:cNvSpPr/>
          <p:nvPr/>
        </p:nvSpPr>
        <p:spPr>
          <a:xfrm>
            <a:off x="0" y="0"/>
            <a:ext cx="360" cy="3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</a:pPr>
            <a:fld id="{27709EC8-3069-4D64-B5FD-240DE793A370}" type="slidenum">
              <a:rPr lang="en-IN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Picture 2" descr="D:\Corp Comm Department Work 2015\Brand Adani 2012\adani_gradient_master.jpg"/>
          <p:cNvPicPr/>
          <p:nvPr/>
        </p:nvPicPr>
        <p:blipFill>
          <a:blip r:embed="rId6"/>
          <a:stretch/>
        </p:blipFill>
        <p:spPr>
          <a:xfrm>
            <a:off x="6095880" y="1942560"/>
            <a:ext cx="5522400" cy="5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object 3"/>
          <p:cNvSpPr/>
          <p:nvPr/>
        </p:nvSpPr>
        <p:spPr>
          <a:xfrm>
            <a:off x="1762920" y="443520"/>
            <a:ext cx="360" cy="653760"/>
          </a:xfrm>
          <a:custGeom>
            <a:avLst/>
            <a:gdLst>
              <a:gd name="textAreaLeft" fmla="*/ 0 w 360"/>
              <a:gd name="textAreaRight" fmla="*/ 5760 w 360"/>
              <a:gd name="textAreaTop" fmla="*/ 0 h 653760"/>
              <a:gd name="textAreaBottom" fmla="*/ 655200 h 653760"/>
            </a:gdLst>
            <a:ahLst/>
            <a:cxnLst/>
            <a:rect l="textAreaLeft" t="textAreaTop" r="textAreaRight" b="textAreaBottom"/>
            <a:pathLst>
              <a:path w="0" h="655319">
                <a:moveTo>
                  <a:pt x="0" y="0"/>
                </a:moveTo>
                <a:lnTo>
                  <a:pt x="0" y="654938"/>
                </a:lnTo>
              </a:path>
            </a:pathLst>
          </a:cu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12" name="Picture 13"/>
          <p:cNvPicPr/>
          <p:nvPr/>
        </p:nvPicPr>
        <p:blipFill>
          <a:blip r:embed="rId7"/>
          <a:stretch/>
        </p:blipFill>
        <p:spPr>
          <a:xfrm>
            <a:off x="1946160" y="522360"/>
            <a:ext cx="1164240" cy="5796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_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" name="Object 1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114" name="Object 1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cxnSp>
        <p:nvCxnSpPr>
          <p:cNvPr id="115" name="Straight Connector 9"/>
          <p:cNvCxnSpPr/>
          <p:nvPr/>
        </p:nvCxnSpPr>
        <p:spPr>
          <a:xfrm>
            <a:off x="336240" y="807480"/>
            <a:ext cx="11522160" cy="1440"/>
          </a:xfrm>
          <a:prstGeom prst="straightConnector1">
            <a:avLst/>
          </a:prstGeom>
          <a:ln w="0">
            <a:solidFill>
              <a:srgbClr val="903E62"/>
            </a:solidFill>
          </a:ln>
        </p:spPr>
      </p:cxn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232200" y="386640"/>
            <a:ext cx="11015640" cy="33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edit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Master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title style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17" name="Picture 5" descr="A close-up of a logo&#10;&#10;Description automatically generated"/>
          <p:cNvPicPr/>
          <p:nvPr/>
        </p:nvPicPr>
        <p:blipFill>
          <a:blip r:embed="rId4"/>
          <a:srcRect l="21430" t="8115" r="26662" b="72248"/>
          <a:stretch/>
        </p:blipFill>
        <p:spPr>
          <a:xfrm>
            <a:off x="10743840" y="241560"/>
            <a:ext cx="1206720" cy="45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Graphic 1" descr="Home outline">
            <a:hlinkClick r:id="rId5"/>
          </p:cNvPr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1405160" y="6480000"/>
            <a:ext cx="18900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extBox 6"/>
          <p:cNvSpPr/>
          <p:nvPr/>
        </p:nvSpPr>
        <p:spPr>
          <a:xfrm>
            <a:off x="11601360" y="6469920"/>
            <a:ext cx="36792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3F17304A-9957-4674-841A-E9BE43D5F7F9}" type="slidenum">
              <a:rPr lang="en-US" sz="1000" b="0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" name="Object 1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122" name="Object 1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23" name="Picture 2" descr="D:\Corp Comm Department Work 2015\Brand Adani 2012\adani_gradient_master.jpg"/>
          <p:cNvPicPr/>
          <p:nvPr/>
        </p:nvPicPr>
        <p:blipFill>
          <a:blip r:embed="rId4"/>
          <a:stretch/>
        </p:blipFill>
        <p:spPr>
          <a:xfrm>
            <a:off x="5495760" y="3548880"/>
            <a:ext cx="6694560" cy="5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Picture 6"/>
          <p:cNvPicPr/>
          <p:nvPr/>
        </p:nvPicPr>
        <p:blipFill>
          <a:blip r:embed="rId5"/>
          <a:stretch/>
        </p:blipFill>
        <p:spPr>
          <a:xfrm>
            <a:off x="-14760" y="3412800"/>
            <a:ext cx="12190680" cy="344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bg object 17"/>
          <p:cNvPicPr/>
          <p:nvPr/>
        </p:nvPicPr>
        <p:blipFill>
          <a:blip r:embed="rId6"/>
          <a:stretch/>
        </p:blipFill>
        <p:spPr>
          <a:xfrm>
            <a:off x="4948920" y="1769760"/>
            <a:ext cx="2292480" cy="1494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" name="Object 1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127" name="Object 1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28" name="PlaceHolder 1"/>
          <p:cNvSpPr>
            <a:spLocks noGrp="1"/>
          </p:cNvSpPr>
          <p:nvPr>
            <p:ph type="ftr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dt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5024028-A416-4D4E-BA44-8F2EDF008A66}" type="slidenum"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1" name="bg object 16"/>
          <p:cNvPicPr/>
          <p:nvPr/>
        </p:nvPicPr>
        <p:blipFill>
          <a:blip r:embed="rId4"/>
          <a:stretch/>
        </p:blipFill>
        <p:spPr>
          <a:xfrm>
            <a:off x="0" y="1440"/>
            <a:ext cx="12190680" cy="685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bg object 17"/>
          <p:cNvPicPr/>
          <p:nvPr/>
        </p:nvPicPr>
        <p:blipFill>
          <a:blip r:embed="rId5"/>
          <a:stretch/>
        </p:blipFill>
        <p:spPr>
          <a:xfrm>
            <a:off x="111600" y="224280"/>
            <a:ext cx="1602720" cy="97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Holder 3"/>
          <p:cNvSpPr/>
          <p:nvPr/>
        </p:nvSpPr>
        <p:spPr>
          <a:xfrm>
            <a:off x="0" y="0"/>
            <a:ext cx="360" cy="3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1/2/2026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Holder 4"/>
          <p:cNvSpPr/>
          <p:nvPr/>
        </p:nvSpPr>
        <p:spPr>
          <a:xfrm>
            <a:off x="0" y="0"/>
            <a:ext cx="360" cy="3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</a:pPr>
            <a:fld id="{DC5731FB-0A2C-4764-AE6A-96870656FBE9}" type="slidenum">
              <a:rPr lang="en-IN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Picture 2" descr="D:\Corp Comm Department Work 2015\Brand Adani 2012\adani_gradient_master.jpg"/>
          <p:cNvPicPr/>
          <p:nvPr/>
        </p:nvPicPr>
        <p:blipFill>
          <a:blip r:embed="rId6"/>
          <a:stretch/>
        </p:blipFill>
        <p:spPr>
          <a:xfrm>
            <a:off x="6095880" y="1942560"/>
            <a:ext cx="5522400" cy="5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object 3"/>
          <p:cNvSpPr/>
          <p:nvPr/>
        </p:nvSpPr>
        <p:spPr>
          <a:xfrm>
            <a:off x="1762920" y="443520"/>
            <a:ext cx="360" cy="653760"/>
          </a:xfrm>
          <a:custGeom>
            <a:avLst/>
            <a:gdLst>
              <a:gd name="textAreaLeft" fmla="*/ 0 w 360"/>
              <a:gd name="textAreaRight" fmla="*/ 5760 w 360"/>
              <a:gd name="textAreaTop" fmla="*/ 0 h 653760"/>
              <a:gd name="textAreaBottom" fmla="*/ 655200 h 653760"/>
            </a:gdLst>
            <a:ahLst/>
            <a:cxnLst/>
            <a:rect l="textAreaLeft" t="textAreaTop" r="textAreaRight" b="textAreaBottom"/>
            <a:pathLst>
              <a:path w="0" h="655319">
                <a:moveTo>
                  <a:pt x="0" y="0"/>
                </a:moveTo>
                <a:lnTo>
                  <a:pt x="0" y="654938"/>
                </a:lnTo>
              </a:path>
            </a:pathLst>
          </a:cu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37" name="Picture 13"/>
          <p:cNvPicPr/>
          <p:nvPr/>
        </p:nvPicPr>
        <p:blipFill>
          <a:blip r:embed="rId7"/>
          <a:stretch/>
        </p:blipFill>
        <p:spPr>
          <a:xfrm>
            <a:off x="1946160" y="522360"/>
            <a:ext cx="1164240" cy="5796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" name="Object 1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139" name="Object 1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cxnSp>
        <p:nvCxnSpPr>
          <p:cNvPr id="140" name="Straight Connector 9"/>
          <p:cNvCxnSpPr/>
          <p:nvPr/>
        </p:nvCxnSpPr>
        <p:spPr>
          <a:xfrm>
            <a:off x="336240" y="807480"/>
            <a:ext cx="11522160" cy="1440"/>
          </a:xfrm>
          <a:prstGeom prst="straightConnector1">
            <a:avLst/>
          </a:prstGeom>
          <a:ln w="0">
            <a:solidFill>
              <a:srgbClr val="903E62"/>
            </a:solidFill>
          </a:ln>
        </p:spPr>
      </p:cxn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232200" y="386640"/>
            <a:ext cx="11015640" cy="33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edit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Master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title style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42" name="Picture 5" descr="A close-up of a logo&#10;&#10;Description automatically generated"/>
          <p:cNvPicPr/>
          <p:nvPr/>
        </p:nvPicPr>
        <p:blipFill>
          <a:blip r:embed="rId4"/>
          <a:srcRect l="21430" t="8115" r="26662" b="72248"/>
          <a:stretch/>
        </p:blipFill>
        <p:spPr>
          <a:xfrm>
            <a:off x="10743840" y="241560"/>
            <a:ext cx="1206720" cy="45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Graphic 1" descr="Home outline">
            <a:hlinkClick r:id="rId5"/>
          </p:cNvPr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1405160" y="6480000"/>
            <a:ext cx="18900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Box 6"/>
          <p:cNvSpPr/>
          <p:nvPr/>
        </p:nvSpPr>
        <p:spPr>
          <a:xfrm>
            <a:off x="11601360" y="6469920"/>
            <a:ext cx="36792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A3DA6AEE-6367-421E-AA07-93902C0496E5}" type="slidenum">
              <a:rPr lang="en-US" sz="1000" b="0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6" name="Object 1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147" name="Object 1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48" name="Picture 2" descr="D:\Corp Comm Department Work 2015\Brand Adani 2012\adani_gradient_master.jpg"/>
          <p:cNvPicPr/>
          <p:nvPr/>
        </p:nvPicPr>
        <p:blipFill>
          <a:blip r:embed="rId4"/>
          <a:stretch/>
        </p:blipFill>
        <p:spPr>
          <a:xfrm>
            <a:off x="5495760" y="3548880"/>
            <a:ext cx="6694560" cy="5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Picture 6"/>
          <p:cNvPicPr/>
          <p:nvPr/>
        </p:nvPicPr>
        <p:blipFill>
          <a:blip r:embed="rId5"/>
          <a:stretch/>
        </p:blipFill>
        <p:spPr>
          <a:xfrm>
            <a:off x="-14760" y="3412800"/>
            <a:ext cx="12190680" cy="344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bg object 17"/>
          <p:cNvPicPr/>
          <p:nvPr/>
        </p:nvPicPr>
        <p:blipFill>
          <a:blip r:embed="rId6"/>
          <a:stretch/>
        </p:blipFill>
        <p:spPr>
          <a:xfrm>
            <a:off x="732240" y="367200"/>
            <a:ext cx="2292480" cy="149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ck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/>
          <p:cNvPicPr/>
          <p:nvPr/>
        </p:nvPicPr>
        <p:blipFill>
          <a:blip r:embed="rId2"/>
          <a:stretch/>
        </p:blipFill>
        <p:spPr>
          <a:xfrm>
            <a:off x="11997720" y="6380280"/>
            <a:ext cx="198000" cy="395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" name="Straight Connector 12"/>
          <p:cNvCxnSpPr/>
          <p:nvPr/>
        </p:nvCxnSpPr>
        <p:spPr>
          <a:xfrm>
            <a:off x="11892600" y="6579000"/>
            <a:ext cx="79920" cy="1440"/>
          </a:xfrm>
          <a:prstGeom prst="straightConnector1">
            <a:avLst/>
          </a:prstGeom>
          <a:ln w="3175">
            <a:solidFill>
              <a:srgbClr val="A6A6A6"/>
            </a:solidFill>
            <a:round/>
          </a:ln>
        </p:spPr>
      </p:cxnSp>
      <p:grpSp>
        <p:nvGrpSpPr>
          <p:cNvPr id="4" name="Group 2"/>
          <p:cNvGrpSpPr/>
          <p:nvPr/>
        </p:nvGrpSpPr>
        <p:grpSpPr>
          <a:xfrm>
            <a:off x="391680" y="746640"/>
            <a:ext cx="10745280" cy="61920"/>
            <a:chOff x="391680" y="746640"/>
            <a:chExt cx="10745280" cy="61920"/>
          </a:xfrm>
        </p:grpSpPr>
        <p:cxnSp>
          <p:nvCxnSpPr>
            <p:cNvPr id="5" name="Straight Connector 9"/>
            <p:cNvCxnSpPr/>
            <p:nvPr/>
          </p:nvCxnSpPr>
          <p:spPr>
            <a:xfrm>
              <a:off x="391680" y="807480"/>
              <a:ext cx="10745640" cy="1440"/>
            </a:xfrm>
            <a:prstGeom prst="straightConnector1">
              <a:avLst/>
            </a:prstGeom>
            <a:ln w="0">
              <a:solidFill>
                <a:srgbClr val="A6A6A6"/>
              </a:solidFill>
            </a:ln>
          </p:spPr>
        </p:cxnSp>
        <p:pic>
          <p:nvPicPr>
            <p:cNvPr id="6" name="Picture 2" descr="D:\Corp Comm Department Work 2015\Brand Adani 2012\adani_gradient_master.jpg"/>
            <p:cNvPicPr/>
            <p:nvPr/>
          </p:nvPicPr>
          <p:blipFill>
            <a:blip r:embed="rId3"/>
            <a:stretch/>
          </p:blipFill>
          <p:spPr>
            <a:xfrm>
              <a:off x="391680" y="746640"/>
              <a:ext cx="7303680" cy="5940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7" name="Picture 3"/>
          <p:cNvPicPr/>
          <p:nvPr/>
        </p:nvPicPr>
        <p:blipFill>
          <a:blip r:embed="rId4"/>
          <a:stretch/>
        </p:blipFill>
        <p:spPr>
          <a:xfrm>
            <a:off x="10286640" y="222480"/>
            <a:ext cx="912960" cy="39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Picture 4"/>
          <p:cNvPicPr/>
          <p:nvPr/>
        </p:nvPicPr>
        <p:blipFill>
          <a:blip r:embed="rId5"/>
          <a:stretch/>
        </p:blipFill>
        <p:spPr>
          <a:xfrm>
            <a:off x="11266200" y="194040"/>
            <a:ext cx="730080" cy="39132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  <p:sldLayoutId id="2147483670" r:id="rId3"/>
    <p:sldLayoutId id="2147483671" r:id="rId4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  <p:sldLayoutId id="2147483674" r:id="rId3"/>
    <p:sldLayoutId id="2147483675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0.wmf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svg"/><Relationship Id="rId3" Type="http://schemas.openxmlformats.org/officeDocument/2006/relationships/image" Target="../media/image25.png"/><Relationship Id="rId4" Type="http://schemas.openxmlformats.org/officeDocument/2006/relationships/image" Target="../media/image26.svg"/><Relationship Id="rId5" Type="http://schemas.openxmlformats.org/officeDocument/2006/relationships/slideLayout" Target="../slideLayouts/slideLayout23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23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object 3"/>
          <p:cNvSpPr/>
          <p:nvPr/>
        </p:nvSpPr>
        <p:spPr>
          <a:xfrm>
            <a:off x="1762920" y="443520"/>
            <a:ext cx="360" cy="653760"/>
          </a:xfrm>
          <a:custGeom>
            <a:avLst/>
            <a:gdLst>
              <a:gd name="textAreaLeft" fmla="*/ 0 w 360"/>
              <a:gd name="textAreaRight" fmla="*/ 5760 w 360"/>
              <a:gd name="textAreaTop" fmla="*/ 0 h 653760"/>
              <a:gd name="textAreaBottom" fmla="*/ 655200 h 653760"/>
            </a:gdLst>
            <a:ahLst/>
            <a:cxnLst/>
            <a:rect l="textAreaLeft" t="textAreaTop" r="textAreaRight" b="textAreaBottom"/>
            <a:pathLst>
              <a:path w="0" h="655319">
                <a:moveTo>
                  <a:pt x="0" y="0"/>
                </a:moveTo>
                <a:lnTo>
                  <a:pt x="0" y="654938"/>
                </a:lnTo>
              </a:path>
            </a:pathLst>
          </a:cu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3"/>
          <p:cNvSpPr/>
          <p:nvPr/>
        </p:nvSpPr>
        <p:spPr>
          <a:xfrm>
            <a:off x="7165800" y="2053080"/>
            <a:ext cx="45615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26-Dec-25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5"/>
          <p:cNvSpPr/>
          <p:nvPr/>
        </p:nvSpPr>
        <p:spPr>
          <a:xfrm>
            <a:off x="5707080" y="1426680"/>
            <a:ext cx="6020280" cy="48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ts val="3450"/>
              </a:lnSpc>
            </a:pPr>
            <a:r>
              <a:rPr lang="en-CA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Adani Regular"/>
              </a:rPr>
              <a:t>Adani Portfolio </a:t>
            </a:r>
            <a:r>
              <a:rPr lang="en-CA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dani Regular"/>
              </a:rPr>
              <a:t>| Weekly Shareholder Movement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Picture 6"/>
          <p:cNvPicPr/>
          <p:nvPr/>
        </p:nvPicPr>
        <p:blipFill>
          <a:blip r:embed="rId1"/>
          <a:stretch/>
        </p:blipFill>
        <p:spPr>
          <a:xfrm>
            <a:off x="1946160" y="522360"/>
            <a:ext cx="1164240" cy="57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PlaceHolder 1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3"/>
          <p:cNvSpPr/>
          <p:nvPr/>
        </p:nvSpPr>
        <p:spPr>
          <a:xfrm>
            <a:off x="5657760" y="1423440"/>
            <a:ext cx="3619440" cy="7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AU" sz="3200" b="1" u="none" strike="noStrike">
                <a:solidFill>
                  <a:schemeClr val="accent1">
                    <a:shade val="67500"/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Table of Contents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5" name="Table 3"/>
          <p:cNvGraphicFramePr/>
          <p:nvPr/>
        </p:nvGraphicFramePr>
        <p:xfrm>
          <a:off x="5779800" y="2284200"/>
          <a:ext cx="6005520" cy="3716640"/>
        </p:xfrm>
        <a:graphic>
          <a:graphicData uri="http://schemas.openxmlformats.org/drawingml/2006/table">
            <a:tbl>
              <a:tblPr/>
              <a:tblGrid>
                <a:gridCol w="622440"/>
                <a:gridCol w="5383440"/>
              </a:tblGrid>
              <a:tr h="335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D9D9D9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</a:rPr>
                        <a:t>Category wise Shareholder Movement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D9D9D9"/>
                      </a:solidFill>
                      <a:prstDash val="dot"/>
                    </a:lnB>
                    <a:noFill/>
                  </a:tcPr>
                </a:tc>
              </a:tr>
              <a:tr h="335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D9D9D9"/>
                      </a:solidFill>
                      <a:prstDash val="dot"/>
                    </a:lnT>
                    <a:lnB w="12240">
                      <a:solidFill>
                        <a:srgbClr val="D9D9D9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</a:rPr>
                        <a:t>Top 20 Institutional Shareholders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D9D9D9"/>
                      </a:solidFill>
                      <a:prstDash val="dot"/>
                    </a:lnT>
                    <a:lnB w="12240">
                      <a:solidFill>
                        <a:srgbClr val="D9D9D9"/>
                      </a:solidFill>
                      <a:prstDash val="dot"/>
                    </a:lnB>
                    <a:noFill/>
                  </a:tcPr>
                </a:tc>
              </a:tr>
              <a:tr h="3578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D9D9D9"/>
                      </a:solidFill>
                      <a:prstDash val="dot"/>
                    </a:lnT>
                    <a:lnB w="12240">
                      <a:solidFill>
                        <a:srgbClr val="D9D9D9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</a:rPr>
                        <a:t>Top 20 Buyers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D9D9D9"/>
                      </a:solidFill>
                      <a:prstDash val="dot"/>
                    </a:lnT>
                    <a:lnB w="12240">
                      <a:solidFill>
                        <a:srgbClr val="D9D9D9"/>
                      </a:solidFill>
                      <a:prstDash val="dot"/>
                    </a:lnB>
                    <a:noFill/>
                  </a:tcPr>
                </a:tc>
              </a:tr>
              <a:tr h="335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D9D9D9"/>
                      </a:solidFill>
                      <a:prstDash val="dot"/>
                    </a:lnT>
                    <a:lnB w="12240">
                      <a:solidFill>
                        <a:srgbClr val="D9D9D9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</a:rPr>
                        <a:t>Top 20 Sellers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D9D9D9"/>
                      </a:solidFill>
                      <a:prstDash val="dot"/>
                    </a:lnT>
                    <a:lnB w="12240">
                      <a:solidFill>
                        <a:srgbClr val="D9D9D9"/>
                      </a:solidFill>
                      <a:prstDash val="dot"/>
                    </a:lnB>
                    <a:noFill/>
                  </a:tcPr>
                </a:tc>
              </a:tr>
              <a:tr h="335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D9D9D9"/>
                      </a:solidFill>
                      <a:prstDash val="dot"/>
                    </a:lnT>
                    <a:lnB w="12240">
                      <a:solidFill>
                        <a:srgbClr val="D9D9D9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</a:rPr>
                        <a:t>New Entry / Exits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D9D9D9"/>
                      </a:solidFill>
                      <a:prstDash val="dot"/>
                    </a:lnT>
                    <a:lnB w="12240">
                      <a:solidFill>
                        <a:srgbClr val="D9D9D9"/>
                      </a:solidFill>
                      <a:prstDash val="dot"/>
                    </a:lnB>
                    <a:noFill/>
                  </a:tcPr>
                </a:tc>
              </a:tr>
              <a:tr h="335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6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D9D9D9"/>
                      </a:solidFill>
                      <a:prstDash val="dot"/>
                    </a:lnT>
                    <a:lnB w="12240">
                      <a:solidFill>
                        <a:srgbClr val="D9D9D9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</a:rPr>
                        <a:t>Top 10 FII’s &amp; FPI’s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D9D9D9"/>
                      </a:solidFill>
                      <a:prstDash val="dot"/>
                    </a:lnT>
                    <a:lnB w="12240">
                      <a:solidFill>
                        <a:srgbClr val="D9D9D9"/>
                      </a:solidFill>
                      <a:prstDash val="dot"/>
                    </a:lnB>
                    <a:noFill/>
                  </a:tcPr>
                </a:tc>
              </a:tr>
              <a:tr h="335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7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D9D9D9"/>
                      </a:solidFill>
                      <a:prstDash val="dot"/>
                    </a:lnT>
                    <a:lnB w="12240">
                      <a:solidFill>
                        <a:srgbClr val="D9D9D9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</a:rPr>
                        <a:t>Top 10 MF’s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D9D9D9"/>
                      </a:solidFill>
                      <a:prstDash val="dot"/>
                    </a:lnT>
                    <a:lnB w="12240">
                      <a:solidFill>
                        <a:srgbClr val="D9D9D9"/>
                      </a:solidFill>
                      <a:prstDash val="dot"/>
                    </a:lnB>
                    <a:noFill/>
                  </a:tcPr>
                </a:tc>
              </a:tr>
              <a:tr h="335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8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D9D9D9"/>
                      </a:solidFill>
                      <a:prstDash val="dot"/>
                    </a:lnT>
                    <a:lnB w="12240">
                      <a:solidFill>
                        <a:srgbClr val="D9D9D9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</a:rPr>
                        <a:t>Top 10 Insurance &amp; PF’s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D9D9D9"/>
                      </a:solidFill>
                      <a:prstDash val="dot"/>
                    </a:lnT>
                    <a:lnB w="12240">
                      <a:solidFill>
                        <a:srgbClr val="D9D9D9"/>
                      </a:solidFill>
                      <a:prstDash val="dot"/>
                    </a:lnB>
                    <a:noFill/>
                  </a:tcPr>
                </a:tc>
              </a:tr>
              <a:tr h="335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9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D9D9D9"/>
                      </a:solidFill>
                      <a:prstDash val="dot"/>
                    </a:lnT>
                    <a:lnB w="12240">
                      <a:solidFill>
                        <a:srgbClr val="D9D9D9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</a:rPr>
                        <a:t>Top 10 AIF’s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D9D9D9"/>
                      </a:solidFill>
                      <a:prstDash val="dot"/>
                    </a:lnT>
                    <a:lnB w="12240">
                      <a:solidFill>
                        <a:srgbClr val="D9D9D9"/>
                      </a:solidFill>
                      <a:prstDash val="dot"/>
                    </a:lnB>
                    <a:noFill/>
                  </a:tcPr>
                </a:tc>
              </a:tr>
              <a:tr h="335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D9D9D9"/>
                      </a:solidFill>
                      <a:prstDash val="dot"/>
                    </a:lnT>
                    <a:lnB w="12240">
                      <a:solidFill>
                        <a:srgbClr val="D9D9D9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</a:rPr>
                        <a:t>Share Price Movement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D9D9D9"/>
                      </a:solidFill>
                      <a:prstDash val="dot"/>
                    </a:lnT>
                    <a:lnB w="12240">
                      <a:solidFill>
                        <a:srgbClr val="D9D9D9"/>
                      </a:solidFill>
                      <a:prstDash val="dot"/>
                    </a:lnB>
                    <a:noFill/>
                  </a:tcPr>
                </a:tc>
              </a:tr>
              <a:tr h="335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D9D9D9"/>
                      </a:solidFill>
                      <a:prstDash val="dot"/>
                    </a:lnT>
                    <a:lnB w="12240">
                      <a:solidFill>
                        <a:srgbClr val="D9D9D9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</a:rPr>
                        <a:t>Bond Yield / Spread Movement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D9D9D9"/>
                      </a:solidFill>
                      <a:prstDash val="dot"/>
                    </a:lnT>
                    <a:lnB w="12240">
                      <a:solidFill>
                        <a:srgbClr val="D9D9D9"/>
                      </a:solidFill>
                      <a:prstDash val="dot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Box 7"/>
          <p:cNvSpPr/>
          <p:nvPr/>
        </p:nvSpPr>
        <p:spPr>
          <a:xfrm>
            <a:off x="251280" y="402120"/>
            <a:ext cx="7727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Category-wise Shareholder Movement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ounded Rectangle 365"/>
          <p:cNvSpPr/>
          <p:nvPr/>
        </p:nvSpPr>
        <p:spPr>
          <a:xfrm>
            <a:off x="3942720" y="486720"/>
            <a:ext cx="1352880" cy="287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lIns="0" tIns="0" rIns="0" bIns="0" anchor="b">
            <a:noAutofit/>
          </a:bodyPr>
          <a:p>
            <a:endParaRPr lang="en-US" sz="1200" b="1" u="none" strike="noStrike">
              <a:solidFill>
                <a:srgbClr val="2E75B6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8" name="Table 3"/>
          <p:cNvGraphicFramePr/>
          <p:nvPr/>
        </p:nvGraphicFramePr>
        <p:xfrm>
          <a:off x="337680" y="1050120"/>
          <a:ext cx="11526120" cy="4764600"/>
        </p:xfrm>
        <a:graphic>
          <a:graphicData uri="http://schemas.openxmlformats.org/drawingml/2006/table">
            <a:tbl>
              <a:tblPr/>
              <a:tblGrid>
                <a:gridCol w="507960"/>
                <a:gridCol w="4160520"/>
                <a:gridCol w="1371600"/>
                <a:gridCol w="1371600"/>
                <a:gridCol w="1371600"/>
                <a:gridCol w="1371600"/>
                <a:gridCol w="1371600"/>
              </a:tblGrid>
              <a:tr h="274320">
                <a:tc row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Rank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rowSpan="2"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Category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grid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26-Dec-25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19-Dec-25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row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Change in Holding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Shares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36576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% of Share Capital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% of Share Capital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7432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Promoter &amp; Promoters Group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144,556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74.96%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144,556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74.96%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FIIs and FPIs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28,439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14.75%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28,437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14.75%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B050"/>
                          </a:solidFill>
                          <a:effectLst/>
                          <a:uFillTx/>
                          <a:latin typeface="Arial"/>
                        </a:rPr>
                        <a:t>0.00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Insurance Companies (QIB)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0.01%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0.01%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Mutual Funds (MFs)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6,530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3.39%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6,519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3.38%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B050"/>
                          </a:solidFill>
                          <a:effectLst/>
                          <a:uFillTx/>
                          <a:latin typeface="Arial"/>
                        </a:rPr>
                        <a:t>0.00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Foreign Banks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Provident Funds / Pension Funds- International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653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0.34%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658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0.34%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(0.00)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Provident Funds / Pension Funds- Domestic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Alternate Investment Funds (AIFs)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9.82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0.01%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9.82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0.01%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(0.00)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Central Government &amp; State Government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Sovereign Wealth Funds (SWFs)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415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0.22%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416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0.22%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(0.00)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Banks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0.14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0.14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NBFC registered with RBI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0.70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0.70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Other Financial Institutions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0.21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0.21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(0.00)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Non-Institutions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12,232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6.34%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12,239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6.35%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(0.00)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9360" tIns="9360" rIns="936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tIns="6120" rIns="612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Total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192,847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100.00%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192,847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100.00%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endParaRPr lang="en-US" sz="1000" b="1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69" name="TextBox 1"/>
          <p:cNvSpPr/>
          <p:nvPr/>
        </p:nvSpPr>
        <p:spPr>
          <a:xfrm>
            <a:off x="10504800" y="820440"/>
            <a:ext cx="13802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IN" sz="9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Shares in Lakhs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2"/>
          <p:cNvSpPr/>
          <p:nvPr/>
        </p:nvSpPr>
        <p:spPr>
          <a:xfrm>
            <a:off x="251280" y="6500520"/>
            <a:ext cx="113533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FIIs: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Foreign Institutional Investors; </a:t>
            </a: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FPIs: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Foreign Portfolio Investments; </a:t>
            </a: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DIIs: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Domestic Institutional Investors; </a:t>
            </a: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MFs: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Mutual Fund; </a:t>
            </a: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Index Fund; </a:t>
            </a: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SWFs: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Sovereign Wealth Fund; </a:t>
            </a: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NBFC: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Non-Banking Financial Company; </a:t>
            </a: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pps: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Percentage Points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" name="Table 2"/>
          <p:cNvGraphicFramePr/>
          <p:nvPr/>
        </p:nvGraphicFramePr>
        <p:xfrm>
          <a:off x="348120" y="1046160"/>
          <a:ext cx="11521080" cy="5392080"/>
        </p:xfrm>
        <a:graphic>
          <a:graphicData uri="http://schemas.openxmlformats.org/drawingml/2006/table">
            <a:tbl>
              <a:tblPr/>
              <a:tblGrid>
                <a:gridCol w="457200"/>
                <a:gridCol w="3657600"/>
                <a:gridCol w="1234440"/>
                <a:gridCol w="1234440"/>
                <a:gridCol w="1234440"/>
                <a:gridCol w="1234440"/>
                <a:gridCol w="1234440"/>
                <a:gridCol w="1234440"/>
              </a:tblGrid>
              <a:tr h="274320">
                <a:tc row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Rank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rowSpan="2">
                  <a:txBody>
                    <a:bodyPr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Shareholder Name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rowSpan="2">
                  <a:txBody>
                    <a:bodyPr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Category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grid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26-Dec-25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19-Dec-25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row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Change in Holding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Shares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36576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% of Share Capital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% of Share Capital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GQG Partners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14,144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7.33%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14,133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7.33%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B050"/>
                          </a:solidFill>
                          <a:effectLst/>
                          <a:uFillTx/>
                          <a:latin typeface="Arial"/>
                        </a:rPr>
                        <a:t>0.00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Opal Investment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7,045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3.65%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7,045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3.65%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SBI Mutual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DII-MF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3,205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1.66%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3,197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1.66%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B050"/>
                          </a:solidFill>
                          <a:effectLst/>
                          <a:uFillTx/>
                          <a:latin typeface="Arial"/>
                        </a:rPr>
                        <a:t>0.00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Quant Mutual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DII-MF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2,394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1.24%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2,394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1.24%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Vanguard International - Index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2,202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1.14%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2,203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1.14%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(0.00)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Blackrock IShares - Index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1,180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0.61%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1,180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0.61%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B050"/>
                          </a:solidFill>
                          <a:effectLst/>
                          <a:uFillTx/>
                          <a:latin typeface="Arial"/>
                        </a:rPr>
                        <a:t>0.00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Minerva Ventures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524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0.27%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524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0.27%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State Street Global Advisors – Index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IF-SWF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301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0.16%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302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0.16%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(0.00)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Dimensional Fund Advisors – Index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251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0.13%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251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0.13%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Aditya Birla Mutual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DII-MF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242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0.13%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242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0.13%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B050"/>
                          </a:solidFill>
                          <a:effectLst/>
                          <a:uFillTx/>
                          <a:latin typeface="Arial"/>
                        </a:rPr>
                        <a:t>0.00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Coeus Capital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230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0.12%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230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0.12%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Shajaeatan Investment FZCO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201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201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BNP Paribas Asset Management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186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184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B050"/>
                          </a:solidFill>
                          <a:effectLst/>
                          <a:uFillTx/>
                          <a:latin typeface="Arial"/>
                        </a:rPr>
                        <a:t>0.00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ICICI Prudential Mutual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DII-MF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176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0.09%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176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0.09%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(0.00)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Fidelity Investments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154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0.08%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154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0.08%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B050"/>
                          </a:solidFill>
                          <a:effectLst/>
                          <a:uFillTx/>
                          <a:latin typeface="Arial"/>
                        </a:rPr>
                        <a:t>0.00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Franklin Templeton – Index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0.07%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0.07%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(0.00)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UTI Mutual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DII-MF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0.07%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0.07%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B050"/>
                          </a:solidFill>
                          <a:effectLst/>
                          <a:uFillTx/>
                          <a:latin typeface="Arial"/>
                        </a:rPr>
                        <a:t>0.00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Wisdomtree India - Index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132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0.07%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133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0.07%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(0.00)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Government Pension Investment Fund (Japan)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130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0.07%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130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0.07%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Profusion Growthcap Strategy PTE. LTD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125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0.06%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125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0.06%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2" name="TextBox 7"/>
          <p:cNvSpPr/>
          <p:nvPr/>
        </p:nvSpPr>
        <p:spPr>
          <a:xfrm>
            <a:off x="251280" y="402120"/>
            <a:ext cx="7727760" cy="34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Top 20 Institutional Shareholders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1"/>
          <p:cNvSpPr/>
          <p:nvPr/>
        </p:nvSpPr>
        <p:spPr>
          <a:xfrm>
            <a:off x="10504800" y="820440"/>
            <a:ext cx="13802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IN" sz="9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Shares in Lakhs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4"/>
          <p:cNvSpPr/>
          <p:nvPr/>
        </p:nvSpPr>
        <p:spPr>
          <a:xfrm>
            <a:off x="348120" y="6558840"/>
            <a:ext cx="11129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FIIs: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Foreign Institutional Investors; </a:t>
            </a: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DIIs: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Domestic Institutional Investors; </a:t>
            </a: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MFs: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Mutual Funds; </a:t>
            </a: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Index Fund; </a:t>
            </a: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SWFs: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Sovereign Wealth Funds; </a:t>
            </a: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pps: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Percentage Points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Box 7"/>
          <p:cNvSpPr/>
          <p:nvPr/>
        </p:nvSpPr>
        <p:spPr>
          <a:xfrm>
            <a:off x="251280" y="402120"/>
            <a:ext cx="7727760" cy="34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9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Top 20 Buyers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3"/>
          <p:cNvSpPr/>
          <p:nvPr/>
        </p:nvSpPr>
        <p:spPr>
          <a:xfrm>
            <a:off x="348120" y="6583320"/>
            <a:ext cx="113533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FIIs: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Foreign Institutional Investors; </a:t>
            </a: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FPIs: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Foreign Portfolio Investments; </a:t>
            </a: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DIIs: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Domestic Institutional Investors; </a:t>
            </a: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MFs: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Mutual Funds; </a:t>
            </a: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Index Fund; </a:t>
            </a: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SWFs: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Sovereign Wealth Funds; </a:t>
            </a: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PMS: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Portfolio Management Services;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7" name="Table 4"/>
          <p:cNvGraphicFramePr/>
          <p:nvPr/>
        </p:nvGraphicFramePr>
        <p:xfrm>
          <a:off x="348120" y="1065600"/>
          <a:ext cx="11521080" cy="5303520"/>
        </p:xfrm>
        <a:graphic>
          <a:graphicData uri="http://schemas.openxmlformats.org/drawingml/2006/table">
            <a:tbl>
              <a:tblPr/>
              <a:tblGrid>
                <a:gridCol w="457200"/>
                <a:gridCol w="3657600"/>
                <a:gridCol w="1234440"/>
                <a:gridCol w="1234440"/>
                <a:gridCol w="1234440"/>
                <a:gridCol w="1234440"/>
                <a:gridCol w="1234440"/>
                <a:gridCol w="1234440"/>
              </a:tblGrid>
              <a:tr h="274320">
                <a:tc row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Rank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rowSpan="2"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Shareholder Name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rowSpan="2"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Category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rowSpan="2">
                  <a:txBody>
                    <a:bodyPr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Shares Acquired 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during the Week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grid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26-Dec-25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19-Dec-25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5720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% of Share Capital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% of Share Capital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Coeus Global Opportunities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0.40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Invesco - 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DII-MF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0.30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Nexus Equity Growth Fund - AIF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DII-AIF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0.20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Mirae Asset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DII-MF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0.20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0.02%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0.02%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Manulife Investment Management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Korean Investment Management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Oculus Capital - AIF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DII-AIF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Northern Trust - IF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0.03%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0.03%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UTI - 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DII-MF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22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0.19%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22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0.19%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BofA Securities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GQG Partners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Opal Investment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SBI Mutual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DII-MF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Quant Mutual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DII-MF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Vanguard International - Index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Blackrock IShares - Index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Minerva Ventures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State Street Global Advisors – Index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IF-SWF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Dimensional Fund Advisors – Index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Aditya Birla Mutual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DII-MF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8" name="TextBox 5"/>
          <p:cNvSpPr/>
          <p:nvPr/>
        </p:nvSpPr>
        <p:spPr>
          <a:xfrm>
            <a:off x="10504800" y="820440"/>
            <a:ext cx="13802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IN" sz="9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Note: Shares in Lakhs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Box 7"/>
          <p:cNvSpPr/>
          <p:nvPr/>
        </p:nvSpPr>
        <p:spPr>
          <a:xfrm>
            <a:off x="251280" y="402120"/>
            <a:ext cx="7727760" cy="34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Top 20 Sellers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5"/>
          <p:cNvSpPr/>
          <p:nvPr/>
        </p:nvSpPr>
        <p:spPr>
          <a:xfrm>
            <a:off x="348120" y="6583320"/>
            <a:ext cx="113533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FIIs: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Foreign Institutional Investors; </a:t>
            </a: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FPIs: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Foreign Portfolio Investments; </a:t>
            </a: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DIIs: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Domestic Institutional Investors; </a:t>
            </a: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MFs: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Mutual Funds; </a:t>
            </a: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Index Fund; </a:t>
            </a: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SWFs: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Sovereign Wealth Funds; </a:t>
            </a: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PMS: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Portfolio Management Services;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1" name="Table 8"/>
          <p:cNvGraphicFramePr/>
          <p:nvPr/>
        </p:nvGraphicFramePr>
        <p:xfrm>
          <a:off x="348120" y="1065600"/>
          <a:ext cx="11521080" cy="5303520"/>
        </p:xfrm>
        <a:graphic>
          <a:graphicData uri="http://schemas.openxmlformats.org/drawingml/2006/table">
            <a:tbl>
              <a:tblPr/>
              <a:tblGrid>
                <a:gridCol w="457200"/>
                <a:gridCol w="3657600"/>
                <a:gridCol w="1234440"/>
                <a:gridCol w="1234440"/>
                <a:gridCol w="1234440"/>
                <a:gridCol w="1234440"/>
                <a:gridCol w="1234440"/>
                <a:gridCol w="1234440"/>
              </a:tblGrid>
              <a:tr h="274320">
                <a:tc row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Rank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rowSpan="2"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Shareholder Name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rowSpan="2"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Category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rowSpan="2">
                  <a:txBody>
                    <a:bodyPr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Shares Sold 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during the Week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grid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26-Dec-25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19-Dec-25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5720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% of Share Capital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% of Share Capital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Coeus Global Opportunities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0.40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Invesco - 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DII-MF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0.30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Nexus Equity Growth Fund - AIF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DII-AIF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0.20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Mirae Asset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DII-MF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0.20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0.02%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0.02%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Manulife Investment Management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Korean Investment Management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Oculus Capital - AIF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DII-AIF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Northern Trust - IF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0.03%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0.03%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UTI - 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DII-MF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22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0.19%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22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0.19%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BofA Securities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GQG Partners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Opal Investment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SBI Mutual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DII-MF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Quant Mutual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DII-MF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Vanguard International - Index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Blackrock IShares - Index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Minerva Ventures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State Street Global Advisors – Index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IF-SWF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Dimensional Fund Advisors – Index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Aditya Birla Mutual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DII-MF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2" name="TextBox 9"/>
          <p:cNvSpPr/>
          <p:nvPr/>
        </p:nvSpPr>
        <p:spPr>
          <a:xfrm>
            <a:off x="10504800" y="820440"/>
            <a:ext cx="13802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IN" sz="9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Note: Shares in Lakhs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3" name="Table 4"/>
          <p:cNvGraphicFramePr/>
          <p:nvPr/>
        </p:nvGraphicFramePr>
        <p:xfrm>
          <a:off x="338400" y="1063080"/>
          <a:ext cx="5714280" cy="5415120"/>
        </p:xfrm>
        <a:graphic>
          <a:graphicData uri="http://schemas.openxmlformats.org/drawingml/2006/table">
            <a:tbl>
              <a:tblPr/>
              <a:tblGrid>
                <a:gridCol w="815040"/>
                <a:gridCol w="2907360"/>
                <a:gridCol w="996120"/>
                <a:gridCol w="996120"/>
              </a:tblGrid>
              <a:tr h="455040">
                <a:tc>
                  <a:txBody>
                    <a:bodyPr lIns="45720" tIns="6120" rIns="612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"/>
                        </a:rPr>
                        <a:t>Category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45720" tIns="6120" rIns="612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"/>
                        </a:rPr>
                        <a:t>New Shareholder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"/>
                        </a:rPr>
                        <a:t>Shares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"/>
                        </a:rPr>
                        <a:t>Acquired during the Week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FillTx/>
                          <a:latin typeface="Arial"/>
                        </a:rPr>
                        <a:t>% of Share Capital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Korean Investment Management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Korean Investment Management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Korean Investment Management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Korean Investment Management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Korean Investment Management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Korean Investment Management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Korean Investment Management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4" name="TextBox 5"/>
          <p:cNvSpPr/>
          <p:nvPr/>
        </p:nvSpPr>
        <p:spPr>
          <a:xfrm>
            <a:off x="251280" y="402120"/>
            <a:ext cx="7727760" cy="34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New Entry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Exits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ounded Rectangle 365"/>
          <p:cNvSpPr/>
          <p:nvPr/>
        </p:nvSpPr>
        <p:spPr>
          <a:xfrm>
            <a:off x="3942720" y="486720"/>
            <a:ext cx="1352880" cy="287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lIns="0" tIns="0" rIns="0" bIns="0" anchor="b">
            <a:noAutofit/>
          </a:bodyPr>
          <a:p>
            <a:endParaRPr lang="en-US" sz="1200" b="1" u="none" strike="noStrike">
              <a:solidFill>
                <a:srgbClr val="2E75B6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6" name="Table 9"/>
          <p:cNvGraphicFramePr/>
          <p:nvPr/>
        </p:nvGraphicFramePr>
        <p:xfrm>
          <a:off x="6158880" y="1063080"/>
          <a:ext cx="5713920" cy="5415120"/>
        </p:xfrm>
        <a:graphic>
          <a:graphicData uri="http://schemas.openxmlformats.org/drawingml/2006/table">
            <a:tbl>
              <a:tblPr/>
              <a:tblGrid>
                <a:gridCol w="813600"/>
                <a:gridCol w="2907720"/>
                <a:gridCol w="996480"/>
                <a:gridCol w="996480"/>
              </a:tblGrid>
              <a:tr h="461880">
                <a:tc>
                  <a:txBody>
                    <a:bodyPr lIns="45720" tIns="6120" rIns="612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7E0000"/>
                          </a:solidFill>
                          <a:effectLst/>
                          <a:uFillTx/>
                          <a:latin typeface="Arial"/>
                        </a:rPr>
                        <a:t>Category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7E0000">
                        <a:alpha val="15000"/>
                      </a:srgbClr>
                    </a:solidFill>
                  </a:tcPr>
                </a:tc>
                <a:tc>
                  <a:txBody>
                    <a:bodyPr lIns="45720" tIns="6120" rIns="612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7E0000"/>
                          </a:solidFill>
                          <a:effectLst/>
                          <a:uFillTx/>
                          <a:latin typeface="Arial"/>
                        </a:rPr>
                        <a:t>Exited Shareholder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7E0000">
                        <a:alpha val="15000"/>
                      </a:srgbClr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7E0000"/>
                          </a:solidFill>
                          <a:effectLst/>
                          <a:uFillTx/>
                          <a:latin typeface="Arial"/>
                        </a:rPr>
                        <a:t>Shares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7E0000"/>
                          </a:solidFill>
                          <a:effectLst/>
                          <a:uFillTx/>
                          <a:latin typeface="Arial"/>
                        </a:rPr>
                        <a:t>Sold during the Week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7E0000">
                        <a:alpha val="15000"/>
                      </a:srgbClr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7E0000"/>
                          </a:solidFill>
                          <a:effectLst/>
                          <a:uFillTx/>
                          <a:latin typeface="Arial"/>
                        </a:rPr>
                        <a:t>% of Share Capital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7E0000">
                        <a:alpha val="15000"/>
                      </a:srgbClr>
                    </a:solidFill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Korean Investment Management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Korean Investment Management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Korean Investment Management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Korean Investment Management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Korean Investment Management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Korean Investment Management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Korean Investment Management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IN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648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12240">
                      <a:noFill/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457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280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D9D9D9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87" name="Graphic 10" descr="Bar graph with upward trend with solid fill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5448" t="0" r="0" b="23227"/>
          <a:stretch/>
        </p:blipFill>
        <p:spPr>
          <a:xfrm>
            <a:off x="2415960" y="1085040"/>
            <a:ext cx="364320" cy="37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Graphic 11" descr="Bar graph with downward trend with solid fill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3071" t="0" r="0" b="24318"/>
          <a:stretch/>
        </p:blipFill>
        <p:spPr>
          <a:xfrm>
            <a:off x="8355240" y="1102680"/>
            <a:ext cx="364320" cy="37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TextBox 12"/>
          <p:cNvSpPr/>
          <p:nvPr/>
        </p:nvSpPr>
        <p:spPr>
          <a:xfrm>
            <a:off x="10504800" y="820440"/>
            <a:ext cx="13802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IN" sz="9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Note: Shares in Lakhs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Table 2"/>
          <p:cNvGraphicFramePr/>
          <p:nvPr/>
        </p:nvGraphicFramePr>
        <p:xfrm>
          <a:off x="348120" y="1046160"/>
          <a:ext cx="11521080" cy="5483520"/>
        </p:xfrm>
        <a:graphic>
          <a:graphicData uri="http://schemas.openxmlformats.org/drawingml/2006/table">
            <a:tbl>
              <a:tblPr/>
              <a:tblGrid>
                <a:gridCol w="548640"/>
                <a:gridCol w="4114800"/>
                <a:gridCol w="1371600"/>
                <a:gridCol w="1371600"/>
                <a:gridCol w="1371600"/>
                <a:gridCol w="1371600"/>
                <a:gridCol w="1371600"/>
              </a:tblGrid>
              <a:tr h="274320">
                <a:tc row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Rank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rowSpan="2">
                  <a:txBody>
                    <a:bodyPr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Shareholder Name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grid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26-Dec-25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19-Dec-25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row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Change in Holding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Shares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45720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% of Share Capital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% of Share Capital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GQG Partners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14,144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7.33%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14,133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7.33%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B050"/>
                          </a:solidFill>
                          <a:effectLst/>
                          <a:uFillTx/>
                          <a:latin typeface="Arial"/>
                        </a:rPr>
                        <a:t>0.00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Opal Investment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7,045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3.65%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7,045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3.65%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Vanguard International – Index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2,202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1.14%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2,203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1.14%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(0.00)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Blackrock IShares – Index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1,180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0.61%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1,180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0.61%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B050"/>
                          </a:solidFill>
                          <a:effectLst/>
                          <a:uFillTx/>
                          <a:latin typeface="Arial"/>
                        </a:rPr>
                        <a:t>0.00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Minerva Ventures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524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0.27%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524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0.27%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State Street Global Advisors – Index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301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0.16%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302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0.16%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(0.00)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Dimensional Fund Advisors – Index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251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0.13%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251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0.13%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Coeus Capital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230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0.12%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230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0.12%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Shajaeatan Investment FZCO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201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201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BNP Paribas Asset Management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186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184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B050"/>
                          </a:solidFill>
                          <a:effectLst/>
                          <a:uFillTx/>
                          <a:latin typeface="Arial"/>
                        </a:rPr>
                        <a:t>0.00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Fidelity Investments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0.08%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0.08%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B050"/>
                          </a:solidFill>
                          <a:effectLst/>
                          <a:uFillTx/>
                          <a:latin typeface="Arial"/>
                        </a:rPr>
                        <a:t>0.00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Franklin Templeton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0.07%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0.07%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(0.00)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Wisdomtree India – Index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132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0.07%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133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0.07%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(0.00)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Government Pension Investment Fund (Japan)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130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0.07%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130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0.07%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Profusion Growthcap Strategy PTE. LTD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0.06%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0.06%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ELM Park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0.06%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0.06%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People's Bank Of China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0.06%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0.06%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(0.00)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Arial Holdings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0.05%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0.05%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J P Morgan Asset Management – Index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0.05%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0.05%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(0.00)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marL="91440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General Organization For Social Insurance (Saudi Provident Fund)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0.05%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0.05%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1" name="TextBox 7"/>
          <p:cNvSpPr/>
          <p:nvPr/>
        </p:nvSpPr>
        <p:spPr>
          <a:xfrm>
            <a:off x="251280" y="402120"/>
            <a:ext cx="772776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Top 10 FIIs &amp; FPIs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1"/>
          <p:cNvSpPr/>
          <p:nvPr/>
        </p:nvSpPr>
        <p:spPr>
          <a:xfrm>
            <a:off x="10504800" y="820440"/>
            <a:ext cx="13802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IN" sz="9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Shares in Lakhs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3"/>
          <p:cNvSpPr/>
          <p:nvPr/>
        </p:nvSpPr>
        <p:spPr>
          <a:xfrm>
            <a:off x="348120" y="6619680"/>
            <a:ext cx="11129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FIIs: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Foreign Institutional Investors; </a:t>
            </a: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FPIs: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Foreign Portfolio Investments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ounded Rectangle 365"/>
          <p:cNvSpPr/>
          <p:nvPr/>
        </p:nvSpPr>
        <p:spPr>
          <a:xfrm>
            <a:off x="3942720" y="486720"/>
            <a:ext cx="1352880" cy="287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lIns="0" tIns="0" rIns="0" bIns="0" anchor="b">
            <a:noAutofit/>
          </a:bodyPr>
          <a:p>
            <a:endParaRPr lang="en-US" sz="1200" b="1" u="none" strike="noStrike">
              <a:solidFill>
                <a:srgbClr val="2E75B6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10"/>
          <p:cNvSpPr/>
          <p:nvPr/>
        </p:nvSpPr>
        <p:spPr>
          <a:xfrm>
            <a:off x="251280" y="6536880"/>
            <a:ext cx="11129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MFs: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Mutual Funds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6" name="Table 6"/>
          <p:cNvGraphicFramePr/>
          <p:nvPr/>
        </p:nvGraphicFramePr>
        <p:xfrm>
          <a:off x="348120" y="1082160"/>
          <a:ext cx="11521080" cy="2559240"/>
        </p:xfrm>
        <a:graphic>
          <a:graphicData uri="http://schemas.openxmlformats.org/drawingml/2006/table">
            <a:tbl>
              <a:tblPr/>
              <a:tblGrid>
                <a:gridCol w="548640"/>
                <a:gridCol w="4114800"/>
                <a:gridCol w="1371600"/>
                <a:gridCol w="1371600"/>
                <a:gridCol w="1371600"/>
                <a:gridCol w="1371600"/>
                <a:gridCol w="1371600"/>
              </a:tblGrid>
              <a:tr h="228600">
                <a:tc row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Rank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rowSpan="2"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Shareholder Name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grid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19-Dec-25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26-Dec-25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row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Change in Holding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Shares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22860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% of Share Capital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% of Share Capital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102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Quant 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118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1.02%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118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1.02%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C00000"/>
                          </a:solidFill>
                          <a:effectLst/>
                          <a:uFillTx/>
                          <a:latin typeface="Arial"/>
                        </a:rPr>
                        <a:t>(0.15)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2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DSP 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0.09%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0.09%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2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ICICI Prudential - 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0.08%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0.08%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2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Invesco - 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0.30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2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Kotak - 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2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NJ Mutual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2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Bandhan - 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2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Nippon India Mutual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2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HSBC - 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2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Edelweiss - 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7" name="TextBox 8"/>
          <p:cNvSpPr/>
          <p:nvPr/>
        </p:nvSpPr>
        <p:spPr>
          <a:xfrm>
            <a:off x="251280" y="402120"/>
            <a:ext cx="772776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Top 10 DII - MFs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8" name="Table 9"/>
          <p:cNvGraphicFramePr/>
          <p:nvPr/>
        </p:nvGraphicFramePr>
        <p:xfrm>
          <a:off x="348120" y="3929400"/>
          <a:ext cx="11521080" cy="2559600"/>
        </p:xfrm>
        <a:graphic>
          <a:graphicData uri="http://schemas.openxmlformats.org/drawingml/2006/table">
            <a:tbl>
              <a:tblPr/>
              <a:tblGrid>
                <a:gridCol w="548640"/>
                <a:gridCol w="4114800"/>
                <a:gridCol w="1371600"/>
                <a:gridCol w="1371600"/>
                <a:gridCol w="1371600"/>
                <a:gridCol w="1371600"/>
                <a:gridCol w="1371600"/>
              </a:tblGrid>
              <a:tr h="228600">
                <a:tc row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Rank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rowSpan="2"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Shareholder Name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grid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19-Dec-25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26-Dec-25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row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Change in Holding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Shares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22860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% of Share Capital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% of Share Capital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102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SBI - 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0.44%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0.44%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C00000"/>
                          </a:solidFill>
                          <a:effectLst/>
                          <a:uFillTx/>
                          <a:latin typeface="Arial"/>
                        </a:rPr>
                        <a:t>(0.48)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2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UTI - 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0.18%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0.18%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0.04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2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ICICI Prudential - 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13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0.11%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13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0.11%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C00000"/>
                          </a:solidFill>
                          <a:effectLst/>
                          <a:uFillTx/>
                          <a:latin typeface="Arial"/>
                        </a:rPr>
                        <a:t>(0.62)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2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Nippon India Mutual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13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0.11%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0.11%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C00000"/>
                          </a:solidFill>
                          <a:effectLst/>
                          <a:uFillTx/>
                          <a:latin typeface="Arial"/>
                        </a:rPr>
                        <a:t>(0.78)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2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HDFC - 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0.07%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0.07%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2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DSP 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0.02%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0.02%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0.05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2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Mirae Asset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0.02%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C00000"/>
                          </a:solidFill>
                          <a:effectLst/>
                          <a:uFillTx/>
                          <a:latin typeface="Arial"/>
                        </a:rPr>
                        <a:t>(0.19)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2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Aditya Birla Sun Life - 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2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Kotak - 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02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Navi MF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0.01%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20" tIns="6120" rIns="61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120" marR="6120" marT="612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9" name="TextBox 11"/>
          <p:cNvSpPr/>
          <p:nvPr/>
        </p:nvSpPr>
        <p:spPr>
          <a:xfrm>
            <a:off x="348120" y="823320"/>
            <a:ext cx="115200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Top 10 Active MF Investors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12"/>
          <p:cNvSpPr/>
          <p:nvPr/>
        </p:nvSpPr>
        <p:spPr>
          <a:xfrm>
            <a:off x="348120" y="3670920"/>
            <a:ext cx="115200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Top 10 Passive MF Investors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13"/>
          <p:cNvSpPr/>
          <p:nvPr/>
        </p:nvSpPr>
        <p:spPr>
          <a:xfrm>
            <a:off x="10504800" y="820440"/>
            <a:ext cx="13802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IN" sz="9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Note: Shares in Lakhs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2" name="Table 2"/>
          <p:cNvGraphicFramePr/>
          <p:nvPr/>
        </p:nvGraphicFramePr>
        <p:xfrm>
          <a:off x="348120" y="1046160"/>
          <a:ext cx="11521080" cy="1681920"/>
        </p:xfrm>
        <a:graphic>
          <a:graphicData uri="http://schemas.openxmlformats.org/drawingml/2006/table">
            <a:tbl>
              <a:tblPr/>
              <a:tblGrid>
                <a:gridCol w="548640"/>
                <a:gridCol w="4114800"/>
                <a:gridCol w="1371600"/>
                <a:gridCol w="1371600"/>
                <a:gridCol w="1371600"/>
                <a:gridCol w="1371600"/>
                <a:gridCol w="1371600"/>
              </a:tblGrid>
              <a:tr h="274320">
                <a:tc row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Rank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rowSpan="2"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Shareholder Name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grid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26-Dec-25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19-Dec-25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row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Change in Holding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Shares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45720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% of Share Capital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% of Share Capital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Edelweiss Life Insurance Company Limited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8.3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8.3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ICICI Prudential Life Insurance Company Limited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1.3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1.3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Ageas Federal Life Insurance Company Limited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1.2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1.2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Bajaj Life Insurance Limited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3" name="TextBox 7"/>
          <p:cNvSpPr/>
          <p:nvPr/>
        </p:nvSpPr>
        <p:spPr>
          <a:xfrm>
            <a:off x="251280" y="402120"/>
            <a:ext cx="772776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Top 10 DII - Insurance &amp; PFs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1"/>
          <p:cNvSpPr/>
          <p:nvPr/>
        </p:nvSpPr>
        <p:spPr>
          <a:xfrm>
            <a:off x="10504800" y="820440"/>
            <a:ext cx="13802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IN" sz="9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Shares in Lakhs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3"/>
          <p:cNvSpPr/>
          <p:nvPr/>
        </p:nvSpPr>
        <p:spPr>
          <a:xfrm>
            <a:off x="348120" y="6455880"/>
            <a:ext cx="11129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PFs: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Provident Funds; </a:t>
            </a: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pps: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Percentage Points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" name="Table 2"/>
          <p:cNvGraphicFramePr/>
          <p:nvPr/>
        </p:nvGraphicFramePr>
        <p:xfrm>
          <a:off x="348120" y="1032480"/>
          <a:ext cx="11521080" cy="2394720"/>
        </p:xfrm>
        <a:graphic>
          <a:graphicData uri="http://schemas.openxmlformats.org/drawingml/2006/table">
            <a:tbl>
              <a:tblPr/>
              <a:tblGrid>
                <a:gridCol w="548640"/>
                <a:gridCol w="4114800"/>
                <a:gridCol w="1371600"/>
                <a:gridCol w="1371600"/>
                <a:gridCol w="1371600"/>
                <a:gridCol w="1371600"/>
                <a:gridCol w="1371600"/>
              </a:tblGrid>
              <a:tr h="274320">
                <a:tc row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Rank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rowSpan="2">
                  <a:txBody>
                    <a:bodyPr tIns="9360" rIns="9360" bIns="0"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Shareholder Name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grid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26-Dec-25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19-Dec-25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rowSpan="2"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Change in Holding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Shares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45720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% of Share Capital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Holding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% of Share Capital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ICICI Prudential Equity Opportunities Fund Series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4.5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4.5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Zenitech Investment Opportunities Fund 1  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India Core Equity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Veloce AIF- Veloce Opportunities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16 Alpha Alternatives Technologies Fund 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(0.00)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TGISME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9360">
                      <a:solidFill>
                        <a:srgbClr val="F2F2F2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Whitespace Alpha - Whitespace Alpha Multi Asset Fund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0.00%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tIns="9360" r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   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 marT="9360" marB="0">
                    <a:lnL w="6480">
                      <a:noFill/>
                      <a:prstDash val="solid"/>
                    </a:lnL>
                    <a:lnR w="9360">
                      <a:solidFill>
                        <a:srgbClr val="F2F2F2"/>
                      </a:solidFill>
                      <a:prstDash val="solid"/>
                    </a:lnR>
                    <a:lnT w="9360">
                      <a:solidFill>
                        <a:srgbClr val="F2F2F2"/>
                      </a:solidFill>
                      <a:prstDash val="solid"/>
                    </a:lnT>
                    <a:lnB w="9360">
                      <a:solidFill>
                        <a:srgbClr val="F2F2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7" name="TextBox 7"/>
          <p:cNvSpPr/>
          <p:nvPr/>
        </p:nvSpPr>
        <p:spPr>
          <a:xfrm>
            <a:off x="251280" y="402120"/>
            <a:ext cx="772776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Top 10 DII - AIFs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1"/>
          <p:cNvSpPr/>
          <p:nvPr/>
        </p:nvSpPr>
        <p:spPr>
          <a:xfrm>
            <a:off x="10504800" y="820440"/>
            <a:ext cx="13802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IN" sz="9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Shares in Lakhs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3"/>
          <p:cNvSpPr/>
          <p:nvPr/>
        </p:nvSpPr>
        <p:spPr>
          <a:xfrm>
            <a:off x="348120" y="6455880"/>
            <a:ext cx="11129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AIFs: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Alternate Investment Funds;</a:t>
            </a:r>
            <a:r>
              <a:rPr lang="en-IN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pps: </a:t>
            </a:r>
            <a:r>
              <a:rPr lang="en-IN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Percentage Points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Box 7"/>
          <p:cNvSpPr/>
          <p:nvPr/>
        </p:nvSpPr>
        <p:spPr>
          <a:xfrm>
            <a:off x="251280" y="402120"/>
            <a:ext cx="7727760" cy="34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Weekly Share Price Movement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ounded Rectangle 365"/>
          <p:cNvSpPr/>
          <p:nvPr/>
        </p:nvSpPr>
        <p:spPr>
          <a:xfrm>
            <a:off x="3942720" y="486720"/>
            <a:ext cx="1352880" cy="287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lIns="0" tIns="0" rIns="0" bIns="0" anchor="b">
            <a:noAutofit/>
          </a:bodyPr>
          <a:p>
            <a:endParaRPr lang="en-US" sz="1200" b="1" u="none" strike="noStrike">
              <a:solidFill>
                <a:srgbClr val="2E75B6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25"/>
          <p:cNvSpPr/>
          <p:nvPr/>
        </p:nvSpPr>
        <p:spPr>
          <a:xfrm>
            <a:off x="261000" y="6455880"/>
            <a:ext cx="106970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8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NSE &amp; BSE.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3" name="Chart 3"/>
          <p:cNvGraphicFramePr/>
          <p:nvPr/>
        </p:nvGraphicFramePr>
        <p:xfrm>
          <a:off x="316800" y="854280"/>
          <a:ext cx="5667840" cy="537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18" name="Chart 11"/>
          <p:cNvGraphicFramePr/>
          <p:nvPr/>
        </p:nvGraphicFramePr>
        <p:xfrm>
          <a:off x="6186960" y="854280"/>
          <a:ext cx="5667840" cy="5375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Box 7"/>
          <p:cNvSpPr/>
          <p:nvPr/>
        </p:nvSpPr>
        <p:spPr>
          <a:xfrm>
            <a:off x="251280" y="402120"/>
            <a:ext cx="7727760" cy="34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Bond Yield / Spread Movement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ounded Rectangle 365"/>
          <p:cNvSpPr/>
          <p:nvPr/>
        </p:nvSpPr>
        <p:spPr>
          <a:xfrm>
            <a:off x="3942720" y="486720"/>
            <a:ext cx="1352880" cy="287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lIns="0" tIns="0" rIns="0" bIns="0" anchor="b">
            <a:noAutofit/>
          </a:bodyPr>
          <a:p>
            <a:endParaRPr lang="en-US" sz="1200" b="1" u="none" strike="noStrike">
              <a:solidFill>
                <a:srgbClr val="2E75B6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25"/>
          <p:cNvSpPr/>
          <p:nvPr/>
        </p:nvSpPr>
        <p:spPr>
          <a:xfrm>
            <a:off x="261000" y="8881560"/>
            <a:ext cx="106970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800" b="0" i="1" u="none" strike="noStrike">
                <a:solidFill>
                  <a:srgbClr val="000000"/>
                </a:solidFill>
                <a:effectLst/>
                <a:uFillTx/>
                <a:latin typeface="Arial Nova Light"/>
              </a:rPr>
              <a:t>Note: XXXXX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2" name="Table 1"/>
          <p:cNvGraphicFramePr/>
          <p:nvPr/>
        </p:nvGraphicFramePr>
        <p:xfrm>
          <a:off x="347040" y="872640"/>
          <a:ext cx="11521080" cy="5029200"/>
        </p:xfrm>
        <a:graphic>
          <a:graphicData uri="http://schemas.openxmlformats.org/drawingml/2006/table">
            <a:tbl>
              <a:tblPr/>
              <a:tblGrid>
                <a:gridCol w="914400"/>
                <a:gridCol w="1737360"/>
                <a:gridCol w="146304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548640"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Issue Date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dot"/>
                    </a:lnT>
                    <a:lnB w="6480">
                      <a:noFill/>
                      <a:prstDash val="dot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Particular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dot"/>
                    </a:lnT>
                    <a:lnB w="6480">
                      <a:noFill/>
                      <a:prstDash val="dot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50000"/>
                        </a:lnSpc>
                        <a:spcAft>
                          <a:spcPts val="601"/>
                        </a:spcAf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Rating 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(M / F/  S)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dot"/>
                    </a:lnT>
                    <a:lnB w="6480">
                      <a:noFill/>
                      <a:prstDash val="dot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50000"/>
                        </a:lnSpc>
                        <a:spcAft>
                          <a:spcPts val="601"/>
                        </a:spcAf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Issue Size </a:t>
                      </a:r>
                      <a:br>
                        <a:rPr sz="1000"/>
                      </a:b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(USD Mn)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dot"/>
                    </a:lnT>
                    <a:lnB w="6480">
                      <a:noFill/>
                      <a:prstDash val="dot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Coupon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dot"/>
                    </a:lnT>
                    <a:lnB w="6480">
                      <a:noFill/>
                      <a:prstDash val="dot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Maturity 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Date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dot"/>
                    </a:lnT>
                    <a:lnB w="6480">
                      <a:noFill/>
                      <a:prstDash val="dot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Current </a:t>
                      </a:r>
                      <a:br>
                        <a:rPr sz="1000"/>
                      </a:b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YTM 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50000"/>
                        </a:lnSpc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(%)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dot"/>
                    </a:lnT>
                    <a:lnB w="6480">
                      <a:noFill/>
                      <a:prstDash val="dot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lIns="68400" tIns="0" rIns="6840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Current G Spread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dot"/>
                    </a:lnT>
                    <a:lnB w="6480">
                      <a:noFill/>
                      <a:prstDash val="dot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lIns="68400" tIns="0" rIns="6840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</a:rPr>
                        <a:t>Current Z Spread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dot"/>
                    </a:lnT>
                    <a:lnB w="6480">
                      <a:noFill/>
                      <a:prstDash val="dot"/>
                    </a:lnB>
                    <a:solidFill>
                      <a:srgbClr val="002060"/>
                    </a:solidFill>
                  </a:tcPr>
                </a:tc>
                <a:tc gridSpan="3"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50000"/>
                        </a:lnSpc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Change in Yield/ Spread (bps)</a:t>
                      </a:r>
                      <a:br>
                        <a:rPr sz="1000"/>
                      </a:br>
                      <a:r>
                        <a:rPr lang="en-U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(from last Week)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dot"/>
                    </a:lnT>
                    <a:lnB w="6480">
                      <a:noFill/>
                      <a:prstDash val="dot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20040">
                <a:tc>
                  <a:txBody>
                    <a:bodyPr lIns="45720" tIns="0" rIns="0" bIns="0" anchor="ctr">
                      <a:noAutofit/>
                    </a:bodyPr>
                    <a:p>
                      <a:endParaRPr lang="en-US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0" marT="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dot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dot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dot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dot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dot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dot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dot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dot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dot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68400" tIns="0" rIns="6840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Yield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dot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68400" tIns="0" rIns="6840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G Spread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dot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68400" tIns="0" rIns="6840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Z Spread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noFill/>
                      <a:prstDash val="dot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</a:tr>
              <a:tr h="3200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4.Mar.24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Adani Green Energy (RG1)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Ba1 / - / BBB-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405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6.7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12.Mar.42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7.129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295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337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200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3.Oct.19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Adani Green Energy (RG2)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Ba1 / BB+ / BBB-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298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4.625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15.Oct.39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6.937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290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329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200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5.Feb.20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0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Adani Electricity Mumbai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0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Baa3 / BBB- / BBB-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0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831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0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3.949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0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12.Feb.30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0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5.835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0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222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0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250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0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0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0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0FF"/>
                    </a:solidFill>
                  </a:tcPr>
                </a:tc>
              </a:tr>
              <a:tr h="3200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15.Jul.21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0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Adani Electricity Mumbai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0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Baa3 / - / BBB-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0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255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0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3.867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0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22.Jul.31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0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6.005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0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226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0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257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0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0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0FF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0FF"/>
                    </a:solidFill>
                  </a:tcPr>
                </a:tc>
              </a:tr>
              <a:tr h="3200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14.Dec.20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Adani International Container Terminal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Baa3 / BBB- / BBB-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230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16.Feb.31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5.527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198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222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3200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28.Jul.20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Adani Ports And SEZ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Baa3 / BBB- / BBB-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625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4.2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4.Aug.27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5.119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164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183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200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22.Jun.17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Adani Ports And SEZ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Baa3 / BBB- / BBB-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345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30.Jul.27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5.145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167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185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200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26.Jun.19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Adani Ports And SEZ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Baa3 / BBB- / BBB-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644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4.375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3.Jul.29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5.314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175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201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200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26.Jan.21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Adani Ports And SEZ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Baa3 / BBB- / BBB-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500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3.1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2.Feb.31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5.709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201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231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200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26.Jul.21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Adani Ports And SEZ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Baa3 / BBB- / BBB-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300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3.828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2.Feb.32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5.769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196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230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DAE3F3"/>
                    </a:solidFill>
                  </a:tcPr>
                </a:tc>
              </a:tr>
              <a:tr h="3200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26.Jul.21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Adani Ports And SEZ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Baa3 / BBB- / BBB-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450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2.Aug.41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6.551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205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256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rgbClr val="DAE3F3"/>
                    </a:solidFill>
                  </a:tcPr>
                </a:tc>
              </a:tr>
              <a:tr h="3200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28.Jul.16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Adani Transmission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Baa3 / NR / BBB-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500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3.Aug.26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5.557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200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203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solidFill>
                        <a:srgbClr val="F2F2F2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20040"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14.Nov.19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Adani Transmission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Baa3 / NR / BBB-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333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4.25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21.May.36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5.999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210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247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9360" tIns="9360" rIns="936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0">
                    <a:lnL w="6480">
                      <a:solidFill>
                        <a:srgbClr val="F2F2F2"/>
                      </a:solidFill>
                      <a:prstDash val="solid"/>
                    </a:lnL>
                    <a:lnR w="6480">
                      <a:solidFill>
                        <a:srgbClr val="F2F2F2"/>
                      </a:solidFill>
                      <a:prstDash val="solid"/>
                    </a:lnR>
                    <a:lnT w="6480">
                      <a:solidFill>
                        <a:srgbClr val="F2F2F2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23" name="TextBox 2"/>
          <p:cNvSpPr/>
          <p:nvPr/>
        </p:nvSpPr>
        <p:spPr>
          <a:xfrm>
            <a:off x="261000" y="6455880"/>
            <a:ext cx="106970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IN" sz="8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MIZUHO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itle 1"/>
          <p:cNvSpPr/>
          <p:nvPr/>
        </p:nvSpPr>
        <p:spPr>
          <a:xfrm>
            <a:off x="4870440" y="2094840"/>
            <a:ext cx="244980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90000"/>
              </a:lnSpc>
              <a:spcAft>
                <a:spcPts val="601"/>
              </a:spcAf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Thank You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3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Manager>Pranav Mehta</Manager>
  <TotalTime>23245</TotalTime>
  <Application>LibreOffice/26.2.0.3$Windows_X86_64 LibreOffice_project/620$Build-3</Application>
  <AppVersion>15.0000</AppVersion>
  <Words>2729</Words>
  <Paragraphs>1361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2023-11-09T05:34:18Z</dcterms:created>
  <dc:creator>Pranav Mehta</dc:creator>
  <dc:description/>
  <cp:keywords>IR Engagement</cp:keywords>
  <dc:language>en-US</dc:language>
  <cp:lastModifiedBy/>
  <cp:lastPrinted>2025-01-09T11:24:18Z</cp:lastPrinted>
  <dcterms:modified xsi:type="dcterms:W3CDTF">2026-03-07T15:04:02Z</dcterms:modified>
  <cp:revision>125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Widescreen</vt:lpwstr>
  </property>
  <property fmtid="{D5CDD505-2E9C-101B-9397-08002B2CF9AE}" pid="4" name="Slides">
    <vt:i4>14</vt:i4>
  </property>
</Properties>
</file>